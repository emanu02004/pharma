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1aca12-644c-4d8c-816f-86a883831739}">
          <p14:sldIdLst>
            <p14:sldId id="256"/>
            <p14:sldId id="257"/>
            <p14:sldId id="258"/>
          </p14:sldIdLst>
        </p14:section>
        <p14:section name="Architecture" id="{219a6b59-0b62-fabd-eb36-9a5a8fddca3f}">
          <p14:sldIdLst>
            <p14:sldId id="259"/>
            <p14:sldId id="260"/>
            <p14:sldId id="261"/>
          </p14:sldIdLst>
        </p14:section>
        <p14:section name="Implementation" id="{358ddfdb-2472-b81d-a50f-0bfb0b2b33d7}">
          <p14:sldIdLst>
            <p14:sldId id="262"/>
            <p14:sldId id="263"/>
            <p14:sldId id="264"/>
          </p14:sldIdLst>
        </p14:section>
        <p14:section name="Quality" id="{2377c124-828e-6ea6-041a-4435e86708d8}">
          <p14:sldIdLst>
            <p14:sldId id="265"/>
            <p14:sldId id="266"/>
            <p14:sldId id="267"/>
          </p14:sldIdLst>
        </p14:section>
        <p14:section name="Wrap-up" id="{5f250437-b21e-2063-8ecd-63136c908d7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27"/>
                </a:solidFill>
                <a:latin typeface="+mn-lt"/>
              </a:defRPr>
            </a:pPr>
            <a:r>
              <a:rPr sz="1400" b="0" i="0" u="none" strike="noStrike">
                <a:solidFill>
                  <a:srgbClr val="1C2A27"/>
                </a:solidFill>
                <a:latin typeface="+mn-lt"/>
              </a:rPr>
              <a:t>pytest tests by type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0F5A4A"/>
            </a:solidFill>
            <a:effectLst/>
          </c:spPr>
          <c:invertIfNegative val="0"/>
          <c:dLbls>
            <c:numFmt formatCode="#,##0" sourceLinked="0"/>
            <c:txPr>
              <a:bodyPr/>
              <a:lstStyle/>
              <a:p>
                <a:pPr>
                  <a:defRPr b="0" i="0" strike="noStrike" sz="1200" u="none">
                    <a:solidFill>
                      <a:srgbClr val="1C2A27"/>
                    </a:solidFill>
                    <a:latin typeface="+mn-lt"/>
                  </a:defRPr>
                </a:pPr>
              </a:p>
            </c:txPr>
            <c:showLegendKey val="0"/>
            <c:showVal val="1"/>
            <c:showCatName val="0"/>
            <c:showSerName val="0"/>
            <c:showPercent val="0"/>
            <c:showBubbleSize val="0"/>
            <c:showLeaderLines val="0"/>
          </c:dLbls>
          <c:cat>
            <c:multiLvlStrRef>
              <c:f>Sheet1!$A$2:$A$5</c:f>
              <c:multiLvlStrCache>
                <c:ptCount val="4"/>
                <c:lvl>
                  <c:pt idx="0">
                    <c:v>Unit</c:v>
                  </c:pt>
                  <c:pt idx="1">
                    <c:v>Integration</c:v>
                  </c:pt>
                  <c:pt idx="2">
                    <c:v>Security</c:v>
                  </c:pt>
                  <c:pt idx="3">
                    <c:v>System</c:v>
                  </c:pt>
                </c:lvl>
              </c:multiLvlStrCache>
            </c:multiLvlStrRef>
          </c:cat>
          <c:val>
            <c:numRef>
              <c:f>Sheet1!$B$2:$B$5</c:f>
              <c:numCache>
                <c:formatCode>General</c:formatCode>
                <c:ptCount val="4"/>
                <c:pt idx="0">
                  <c:v>22</c:v>
                </c:pt>
                <c:pt idx="1">
                  <c:v>21</c:v>
                </c:pt>
                <c:pt idx="2">
                  <c:v>22</c:v>
                </c:pt>
                <c:pt idx="3">
                  <c:v>1</c:v>
                </c:pt>
              </c:numCache>
            </c:numRef>
          </c:val>
        </c:ser>
        <c:dLbls>
          <c:numFmt formatCode="#,##0" sourceLinked="0"/>
          <c:txPr>
            <a:bodyPr/>
            <a:lstStyle/>
            <a:p>
              <a:pPr>
                <a:defRPr b="0" i="0" strike="noStrike" sz="1200" u="none">
                  <a:solidFill>
                    <a:srgbClr val="1C2A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6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Pauline Miyienda (about 30 seconds)
Good morning. We are Group 3 and this is PharmaFinder.
In one sentence: a Flask and MySQL web app where doctors issue structured digital prescriptions, patients see which nearby pharmacies have every medicine in stock, and pharmacists verify a one-time code and dispense, with stock updating automatically.
The card on the right is a real prescription from our running app, with synthetic demo data.
Introduce the team briefly: each of us will present the part we owned.
TRANSITION: "Let me start with the problem we are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Pauline Miyienda (about 45 seconds)
Two problems from our proposal.
First, prescriptions are hard to read: in the Uasin Gishu audit only 21 percent were legible even after training.
Second, medicines are often not where the patient goes: 16 percent availability of NCD medicines at dispensaries. Patients with diabetes or hypertension make repeat trips.
Our workflow addresses both in four steps (walk through the four rows). The key ideas: the prescription is structured and validated by the server, the patient sees real stock before travelling, the patient controls who can open the prescription, and dispensing is single-use.
TRANSITION: "Here is what is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Pauline Miyienda (about 45 seconds)
Eight of our nine planned features work end to end, and each has automated tests listed in the Evidence column.
Deployment to Vercel is ready (configuration and steps in the README) but not yet live, so we say so honestly.
On the right are the scope changes the team agreed: we replaced the QR code with a short code, dropped reservations, payment and the digital signature, and instead of a doctor verification workflow, the admin creates doctor and pharmacist accounts, so nobody can sign up as a doctor.
The screenshot is a real prescription issued in the app.
TRANSITION: "Marion will explain the technology choices behind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Marion Gitau (about 45 seconds)
All six choices come from our proposal; here is why each beats the obvious alternative.
Flask instead of Django: we only need a JSON API, so Flask keeps the code small and easy to read.
MySQL instead of MongoDB: prescriptions, items, stock and pharmacies are tightly linked, and dispensing needs a transaction that updates several tables at once.
Plain HTML and Bootstrap instead of React: no build step, so all six of us could work on pages.
Leaflet with OpenStreetMap instead of Google Maps: free, no API key.
pytest and Postman for testing; GitHub for collaboration; Vercel for hosting, with MySQL on Aiven because Vercel does not host MySQL.
TRANSITION: "Here is how these pieces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Marion Gitau (about 45 seconds)
We follow the three layers from our proposal.
Presentation: four pages, one per role, in plain HTML and JavaScript. They talk to the API only through JSON over HTTPS with a session cookie.
Application: the Flask API in the pharmafinder package. Every request goes through security.py, which checks the user is logged in, still active, has the right role, and owns the record. Hiding a button is never the protection; the server is.
Data: MySQL. The browser never touches it. Every query is parameterised, and the operations that change several tables run in a transaction.
External services: OpenStreetMap tiles for the map, and email alerts only if SMTP is configured; otherwise alerts are stored in the app and labelled "simulated".
Because the API keeps no state in memory and writes nothing to disk, it runs on Vercel's serverless platform.
TRANSITION: "Emmanuel will take you through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Emmanuel Masambu (about 45 seconds)
This is the ERD generated from our actual schema.sql. Twelve tables, keeping the proposal's entities.
Patient, Doctor and Pharmacist each link one-to-one to User through a unique user_id; an admin is just a user with the admin role.
A Prescription belongs to one patient and one doctor and has one or more Prescription Items. GrantAccess links one prescription to one pharmacy for a time window. ItemStock links pharmacies to medicines.
The database enforces rules itself, not just the API: a unique prescription code, stock can never go negative, price must be positive, and a pharmacy has only one stock line per medicine.
We changed some things from the proposal (bottom right): Reservation became Notification after the scope change, and we added the columns the proposal was missing, such as the password hash and pharmacy coordinates. The proposal also used a column called "update", which is a reserved word in MySQL.
CRUD: prescriptions and grants are never deleted, only their status changes, so the history stays complete.
TRANSITION: "Batsinda will show the core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Batsinda Benoit (about 1 minute)
Two pieces of code carry the main guarantees.
Left: the prescription code. We use Python's secrets module, which is cryptographically random, over an alphabet without look-alike characters. That gives about 850 billion combinations, the column is UNIQUE in MySQL, and wrong guesses are rate-limited.
Right: dispensing. It runs as one transaction. First SELECT ... FOR UPDATE locks the prescription row, so a second pharmacist trying the same code waits. We check the patient's grant, the status and expiry, and that there is enough stock for every item. Then each stock update only succeeds if quantity is still high enough, and the status update only succeeds if the prescription is still active. If any check fails we roll back, so stock is never half-deducted.
We tested exactly this: two pharmacists dispensing the same code at the same moment get one success and one 409, and stock drops once.
TRANSITION: "Sylvie will show how patients find their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Sylvie Uwera (about 45 seconds)
This is the feature patients care about most.
On the left is a real result from the app for a two-medicine prescription. The nearest pharmacy, 0 km away, is not first, because it only has one of the two medicines. The pharmacy 2.6 km away has both, so it ranks first.
The algorithm has three steps: haversine distance, matching each item against stock with enough quantity, and then a sort key in geo.py: full coverage first, then number of items, then distance, then total price.
Patients can also search by medicine name, by brand or generic, and sort or filter.
The map uses Leaflet with OpenStreetMap tiles. In the demo the patient's location is the browser's geolocation, or Eldoret CBD if the browser refuses.
A test checks the search returns exactly the pharmacies with stock in the database, no more and no fewer.
TRANSITION: "Batsinda will cover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Batsinda Benoit (about 45 seconds)
Six security measures, all implemented and all covered by tests.
Passwords are hashed with scrypt and a salt. Roles and ownership are checked on the server for every endpoint; a patient asking for someone else's prescription gets 404, so they cannot even learn it exists.
Sharing is controlled by the patient, time-limited, and revocable; a revoked grant blocks the pharmacy on its very next request. A prescription cannot be dispensed twice, or after it expires or is cancelled.
Every sensitive action goes into the audit log, and brute-force attempts are limited.
At the bottom, to be honest: our proposal promised encryption of stored data and anonymised search. These are not implemented, so we do not claim them.
TRANSITION: "Emmanuel will show how we tested all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Emmanuel Masambu (about 45 seconds)
We used the two tools from our proposal.
pytest: 66 tests, all passing, run against a real MySQL database that is rebuilt from schema.sql before every test, so no mocks. They split into unit tests (distance, ranking, code format, validation), integration tests (API plus database), security tests, and one full system journey.
Postman: a collection of 22 requests with 30 assertions, run with Newman, all passing.
Some examples on the right: the full journey checks stock drops by exactly the prescribed amounts; reusing a code returns 409; ten different invalid prescriptions are all rejected and nothing is saved.
The test report in the repo is generated from the actual run, not written by hand.
TRANSITION: "Ahmed will talk about the challenges we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Ahmed Osman (about 45 seconds)
Four real challenges.
One: concurrency. If two pharmacists dispense the same code at the same moment, both could succeed. Row locks plus conditional updates fixed it, and a test fires both requests together.
Two: Vercel. Serverless functions have no background jobs and forget everything between requests. So expiry is checked when prescriptions are read, and brute-force limits are counted from the audit log in MySQL. We have proven this locally; the live deployment is our next step.
Three: dropping the QR code. A typed code can be guessed or misread, so we use a long random code without look-alike characters and limit wrong attempts.
Four: our own proposal's database was missing columns we needed, such as password hashes and pharmacy coordinates, and used a reserved word. We fixed and documented each one.
TRANSITION: "Next, how review shaped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Sylvie Uwera (about 30 seconds)
To be transparent: we have not yet had formal reviewer feedback on the implementation, so we will not invent any.
What did shape the project was our own review of the proposal before building. We found the schema could not support login or the map, that anyone could have registered as a doctor, and that two different timers had been mixed up. Each finding led to a concrete change.
When we receive feedback from today's session, we will log each point on our board, fix it on a branch through a pull request, add a test that proves the fix, and re-run all tests before merging.
TRANSITION: "Ahmed will take us through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Ahmed Osman (about 30 seconds)
Each of us has a concrete next task (read the table briefly, one line per person).
The biggest is deployment: Marion and Emmanuel will put the API on Vercel and the database on Aiven, and Batsinda will re-run the Postman tests against the live site.
I will run a usability test with five users, using the five-point Likert scale from our evaluation plan.
Milestones follow our proposal's timeline: live in week 5, evaluation in week 6, and a pilot with real pharmacies after the course.
TRANSITION: "Pauline will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Pauline Miyienda (about 15 seconds)
These are our main research sources and the open-source libraries we built on. We also used Claude as a development assistant, which was permitted for this project, and every result we have shown comes from running our own code and tests.
Thank you. We are happy to take your questions, and we can run a live demo if time allows.
Q&amp;A PREPARATION (3 minutes):
- Why not QR? Simpler to build and test; a typed code works without a camera; we compensate with long random codes and attempt limits.
- What if a pharmacy's stock is wrong? Each stock line shows its last-update time; live sync with pharmacy systems is future work.
- How do you stop someone posing as a doctor? Only patients can sign up; doctor and pharmacist accounts are created by the admin.
- What happens if two pharmacists dispense at once? Row locks; tested, exactly one succeeds.
- Is health data encrypted? In transit via HTTPS on Vercel and TLS to MySQL when configured; not encrypted at rest in the app, which we state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76656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2834640"/>
            <a:ext cx="640080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PharmaFinder, Group 3</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76656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PharmaFinder</a:t>
            </a:r>
            <a:endParaRPr lang="en-US" sz="5400" dirty="0"/>
          </a:p>
        </p:txBody>
      </p:sp>
      <p:sp>
        <p:nvSpPr>
          <p:cNvPr id="3" name="Text 0"/>
          <p:cNvSpPr/>
          <p:nvPr>
            <p:ph idx="101" type="body" hasCustomPrompt="1"/>
          </p:nvPr>
        </p:nvSpPr>
        <p:spPr>
          <a:xfrm>
            <a:off x="640080" y="2834640"/>
            <a:ext cx="6400800" cy="1005840"/>
          </a:xfrm>
          <a:prstGeom prst="rect">
            <a:avLst/>
          </a:prstGeom>
          <a:noFill/>
          <a:ln/>
        </p:spPr>
        <p:txBody>
          <a:bodyPr wrap="square" lIns="0" tIns="0" rIns="0" bIns="0" rtlCol="0" anchor="t"/>
          <a:lstStyle/>
          <a:p>
            <a:pPr algn="l" indent="0" marL="0">
              <a:buNone/>
            </a:pPr>
            <a:r>
              <a:rPr lang="en-US" sz="2000" dirty="0">
                <a:solidFill>
                  <a:schemeClr val="bg2"/>
                </a:solidFill>
              </a:rPr>
              <a:t>Digital prescriptions linked to live pharmacy stock in Uasin Gishu County, Kenya</a:t>
            </a:r>
            <a:endParaRPr lang="en-US" sz="2000" dirty="0"/>
          </a:p>
        </p:txBody>
      </p:sp>
      <p:sp>
        <p:nvSpPr>
          <p:cNvPr id="4" name="Text 2"/>
          <p:cNvSpPr txBox="1"/>
          <p:nvPr/>
        </p:nvSpPr>
        <p:spPr>
          <a:xfrm>
            <a:off x="640080" y="3977640"/>
            <a:ext cx="6400800" cy="365760"/>
          </a:xfrm>
          <a:prstGeom prst="rect">
            <a:avLst/>
          </a:prstGeom>
          <a:noFill/>
          <a:ln/>
        </p:spPr>
        <p:txBody>
          <a:bodyPr wrap="square" lIns="0" tIns="0" rIns="0" bIns="0" rtlCol="0" anchor="t"/>
          <a:lstStyle/>
          <a:p>
            <a:pPr indent="0" marL="0">
              <a:buNone/>
            </a:pPr>
            <a:r>
              <a:rPr lang="en-US" sz="1400" dirty="0">
                <a:solidFill>
                  <a:schemeClr val="bg2"/>
                </a:solidFill>
              </a:rPr>
              <a:t>Group 3, ALU Foundations Project, technical presentation</a:t>
            </a:r>
            <a:endParaRPr lang="en-US" sz="1400" dirty="0"/>
          </a:p>
        </p:txBody>
      </p:sp>
      <p:sp>
        <p:nvSpPr>
          <p:cNvPr id="5" name="Text 3"/>
          <p:cNvSpPr txBox="1"/>
          <p:nvPr/>
        </p:nvSpPr>
        <p:spPr>
          <a:xfrm>
            <a:off x="640080" y="48006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Pauline Miyienda</a:t>
            </a:r>
            <a:endParaRPr lang="en-US" sz="1400" dirty="0"/>
          </a:p>
          <a:p>
            <a:pPr indent="0" marL="0">
              <a:buNone/>
            </a:pPr>
            <a:r>
              <a:rPr lang="en-US" sz="1200" dirty="0">
                <a:solidFill>
                  <a:schemeClr val="bg2"/>
                </a:solidFill>
              </a:rPr>
              <a:t>Frontend, project manager</a:t>
            </a:r>
            <a:endParaRPr lang="en-US" sz="1400" dirty="0"/>
          </a:p>
        </p:txBody>
      </p:sp>
      <p:sp>
        <p:nvSpPr>
          <p:cNvPr id="6" name="Text 4"/>
          <p:cNvSpPr txBox="1"/>
          <p:nvPr/>
        </p:nvSpPr>
        <p:spPr>
          <a:xfrm>
            <a:off x="2880360" y="48006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Marion Gitau</a:t>
            </a:r>
            <a:endParaRPr lang="en-US" sz="1400" dirty="0"/>
          </a:p>
          <a:p>
            <a:pPr indent="0" marL="0">
              <a:buNone/>
            </a:pPr>
            <a:r>
              <a:rPr lang="en-US" sz="1200" dirty="0">
                <a:solidFill>
                  <a:schemeClr val="bg2"/>
                </a:solidFill>
              </a:rPr>
              <a:t>Backend</a:t>
            </a:r>
            <a:endParaRPr lang="en-US" sz="1400" dirty="0"/>
          </a:p>
        </p:txBody>
      </p:sp>
      <p:sp>
        <p:nvSpPr>
          <p:cNvPr id="7" name="Text 5"/>
          <p:cNvSpPr txBox="1"/>
          <p:nvPr/>
        </p:nvSpPr>
        <p:spPr>
          <a:xfrm>
            <a:off x="5120640" y="48006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Emmanuel Masambu</a:t>
            </a:r>
            <a:endParaRPr lang="en-US" sz="1400" dirty="0"/>
          </a:p>
          <a:p>
            <a:pPr indent="0" marL="0">
              <a:buNone/>
            </a:pPr>
            <a:r>
              <a:rPr lang="en-US" sz="1200" dirty="0">
                <a:solidFill>
                  <a:schemeClr val="bg2"/>
                </a:solidFill>
              </a:rPr>
              <a:t>Database architect</a:t>
            </a:r>
            <a:endParaRPr lang="en-US" sz="1400" dirty="0"/>
          </a:p>
        </p:txBody>
      </p:sp>
      <p:sp>
        <p:nvSpPr>
          <p:cNvPr id="8" name="Text 6"/>
          <p:cNvSpPr txBox="1"/>
          <p:nvPr/>
        </p:nvSpPr>
        <p:spPr>
          <a:xfrm>
            <a:off x="640080" y="54864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Sylvie Uwera</a:t>
            </a:r>
            <a:endParaRPr lang="en-US" sz="1400" dirty="0"/>
          </a:p>
          <a:p>
            <a:pPr indent="0" marL="0">
              <a:buNone/>
            </a:pPr>
            <a:r>
              <a:rPr lang="en-US" sz="1200" dirty="0">
                <a:solidFill>
                  <a:schemeClr val="bg2"/>
                </a:solidFill>
              </a:rPr>
              <a:t>Frontend</a:t>
            </a:r>
            <a:endParaRPr lang="en-US" sz="1400" dirty="0"/>
          </a:p>
        </p:txBody>
      </p:sp>
      <p:sp>
        <p:nvSpPr>
          <p:cNvPr id="9" name="Text 7"/>
          <p:cNvSpPr txBox="1"/>
          <p:nvPr/>
        </p:nvSpPr>
        <p:spPr>
          <a:xfrm>
            <a:off x="2880360" y="54864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Ahmed Osman</a:t>
            </a:r>
            <a:endParaRPr lang="en-US" sz="1400" dirty="0"/>
          </a:p>
          <a:p>
            <a:pPr indent="0" marL="0">
              <a:buNone/>
            </a:pPr>
            <a:r>
              <a:rPr lang="en-US" sz="1200" dirty="0">
                <a:solidFill>
                  <a:schemeClr val="bg2"/>
                </a:solidFill>
              </a:rPr>
              <a:t>UI/UX design</a:t>
            </a:r>
            <a:endParaRPr lang="en-US" sz="1400" dirty="0"/>
          </a:p>
        </p:txBody>
      </p:sp>
      <p:sp>
        <p:nvSpPr>
          <p:cNvPr id="10" name="Text 8"/>
          <p:cNvSpPr txBox="1"/>
          <p:nvPr/>
        </p:nvSpPr>
        <p:spPr>
          <a:xfrm>
            <a:off x="5120640" y="5486400"/>
            <a:ext cx="2148840" cy="594360"/>
          </a:xfrm>
          <a:prstGeom prst="rect">
            <a:avLst/>
          </a:prstGeom>
          <a:noFill/>
          <a:ln/>
        </p:spPr>
        <p:txBody>
          <a:bodyPr wrap="square" lIns="0" tIns="0" rIns="0" bIns="0" rtlCol="0" anchor="t"/>
          <a:lstStyle/>
          <a:p>
            <a:pPr indent="0" marL="0">
              <a:buNone/>
            </a:pPr>
            <a:r>
              <a:rPr lang="en-US" sz="1400" b="1" dirty="0">
                <a:solidFill>
                  <a:schemeClr val="bg1"/>
                </a:solidFill>
              </a:rPr>
              <a:t>Batsinda Benoit</a:t>
            </a:r>
            <a:endParaRPr lang="en-US" sz="1400" dirty="0"/>
          </a:p>
          <a:p>
            <a:pPr indent="0" marL="0">
              <a:buNone/>
            </a:pPr>
            <a:r>
              <a:rPr lang="en-US" sz="1200" dirty="0">
                <a:solidFill>
                  <a:schemeClr val="bg2"/>
                </a:solidFill>
              </a:rPr>
              <a:t>Backend</a:t>
            </a:r>
            <a:endParaRPr lang="en-US" sz="1400" dirty="0"/>
          </a:p>
        </p:txBody>
      </p:sp>
      <p:sp>
        <p:nvSpPr>
          <p:cNvPr id="11" name="slip"/>
          <p:cNvSpPr/>
          <p:nvPr/>
        </p:nvSpPr>
        <p:spPr>
          <a:xfrm rot="-180000">
            <a:off x="8001000" y="2011680"/>
            <a:ext cx="3566160" cy="2103120"/>
          </a:xfrm>
          <a:prstGeom prst="roundRect">
            <a:avLst>
              <a:gd name="adj" fmla="val 3478"/>
            </a:avLst>
          </a:prstGeom>
          <a:solidFill>
            <a:schemeClr val="bg1"/>
          </a:solidFill>
          <a:ln w="12700">
            <a:solidFill>
              <a:schemeClr val="bg1"/>
            </a:solidFill>
            <a:prstDash val="solid"/>
          </a:ln>
          <a:effectLst>
            <a:outerShdw sx="100000" sy="100000" kx="0" ky="0" algn="bl" rotWithShape="0" blurRad="152400" dist="50800" dir="5400000">
              <a:srgbClr val="000000">
                <a:alpha val="25000"/>
              </a:srgbClr>
            </a:outerShdw>
          </a:effectLst>
        </p:spPr>
      </p:sp>
      <p:sp>
        <p:nvSpPr>
          <p:cNvPr id="12" name="slip code"/>
          <p:cNvSpPr txBox="1"/>
          <p:nvPr/>
        </p:nvSpPr>
        <p:spPr>
          <a:xfrm rot="-180000">
            <a:off x="8275320" y="2240280"/>
            <a:ext cx="3108960" cy="548640"/>
          </a:xfrm>
          <a:prstGeom prst="rect">
            <a:avLst/>
          </a:prstGeom>
          <a:noFill/>
          <a:ln/>
        </p:spPr>
        <p:txBody>
          <a:bodyPr wrap="square" lIns="0" tIns="0" rIns="0" bIns="0" rtlCol="0" anchor="ctr"/>
          <a:lstStyle/>
          <a:p>
            <a:pPr indent="0" marL="0">
              <a:buNone/>
            </a:pPr>
            <a:r>
              <a:rPr lang="en-US" sz="2600" i="1" dirty="0">
                <a:solidFill>
                  <a:schemeClr val="accent1"/>
                </a:solidFill>
                <a:latin typeface="Cambria" pitchFamily="34" charset="0"/>
                <a:ea typeface="Cambria" pitchFamily="34" charset="-122"/>
                <a:cs typeface="Cambria" pitchFamily="34" charset="-120"/>
              </a:rPr>
              <a:t>Rx </a:t>
            </a:r>
            <a:pPr indent="0" marL="0">
              <a:buNone/>
            </a:pPr>
            <a:r>
              <a:rPr lang="en-US" sz="3000" b="1" dirty="0">
                <a:solidFill>
                  <a:schemeClr val="tx1"/>
                </a:solidFill>
                <a:latin typeface="Courier New" pitchFamily="34" charset="0"/>
                <a:ea typeface="Courier New" pitchFamily="34" charset="-122"/>
                <a:cs typeface="Courier New" pitchFamily="34" charset="-120"/>
              </a:rPr>
              <a:t>GW5X-MU8N</a:t>
            </a:r>
            <a:endParaRPr lang="en-US" sz="2600" dirty="0"/>
          </a:p>
        </p:txBody>
      </p:sp>
      <p:sp>
        <p:nvSpPr>
          <p:cNvPr id="13" name="slip text"/>
          <p:cNvSpPr txBox="1"/>
          <p:nvPr/>
        </p:nvSpPr>
        <p:spPr>
          <a:xfrm rot="-180000">
            <a:off x="8275320" y="2880360"/>
            <a:ext cx="3154680" cy="1005840"/>
          </a:xfrm>
          <a:prstGeom prst="rect">
            <a:avLst/>
          </a:prstGeom>
          <a:noFill/>
          <a:ln/>
        </p:spPr>
        <p:txBody>
          <a:bodyPr wrap="square" lIns="0" tIns="0" rIns="0" bIns="0" rtlCol="0" anchor="ctr"/>
          <a:lstStyle/>
          <a:p>
            <a:pPr indent="0" marL="0">
              <a:buNone/>
            </a:pPr>
            <a:r>
              <a:rPr lang="en-US" sz="1300" dirty="0">
                <a:solidFill>
                  <a:schemeClr val="accent4"/>
                </a:solidFill>
              </a:rPr>
              <a:t>Metformin 500 mg, twice daily, 30 days</a:t>
            </a:r>
            <a:endParaRPr lang="en-US" sz="1300" dirty="0"/>
          </a:p>
          <a:p>
            <a:pPr indent="0" marL="0">
              <a:buNone/>
            </a:pPr>
            <a:r>
              <a:rPr lang="en-US" sz="1300" dirty="0">
                <a:solidFill>
                  <a:schemeClr val="accent4"/>
                </a:solidFill>
              </a:rPr>
              <a:t>Amlodipine 5 mg, once daily, 30 days</a:t>
            </a:r>
            <a:endParaRPr lang="en-US" sz="1300" dirty="0"/>
          </a:p>
          <a:p>
            <a:pPr indent="0" marL="0">
              <a:buNone/>
            </a:pPr>
            <a:r>
              <a:rPr lang="en-US" sz="1300" dirty="0">
                <a:solidFill>
                  <a:schemeClr val="accent4"/>
                </a:solidFill>
              </a:rPr>
              <a:t>All items in stock at 1 pharmacy, 2.6 km away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Two problems, one workflow</a:t>
            </a:r>
            <a:endParaRPr lang="en-US" sz="3400" dirty="0"/>
          </a:p>
        </p:txBody>
      </p:sp>
      <p:sp>
        <p:nvSpPr>
          <p:cNvPr id="3" name="stat 1 card"/>
          <p:cNvSpPr/>
          <p:nvPr/>
        </p:nvSpPr>
        <p:spPr>
          <a:xfrm>
            <a:off x="548640" y="1325880"/>
            <a:ext cx="4206240" cy="2240280"/>
          </a:xfrm>
          <a:prstGeom prst="roundRect">
            <a:avLst>
              <a:gd name="adj" fmla="val 3265"/>
            </a:avLst>
          </a:prstGeom>
          <a:solidFill>
            <a:schemeClr val="bg2"/>
          </a:solidFill>
          <a:ln w="12700">
            <a:solidFill>
              <a:schemeClr val="bg2"/>
            </a:solidFill>
            <a:prstDash val="solid"/>
          </a:ln>
        </p:spPr>
      </p:sp>
      <p:sp>
        <p:nvSpPr>
          <p:cNvPr id="4" name="Text 2"/>
          <p:cNvSpPr txBox="1"/>
          <p:nvPr/>
        </p:nvSpPr>
        <p:spPr>
          <a:xfrm>
            <a:off x="822960" y="1463040"/>
            <a:ext cx="36576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21%</a:t>
            </a:r>
            <a:endParaRPr lang="en-US" sz="6000" dirty="0"/>
          </a:p>
        </p:txBody>
      </p:sp>
      <p:sp>
        <p:nvSpPr>
          <p:cNvPr id="5" name="Text 3"/>
          <p:cNvSpPr txBox="1"/>
          <p:nvPr/>
        </p:nvSpPr>
        <p:spPr>
          <a:xfrm>
            <a:off x="822960" y="2423160"/>
            <a:ext cx="3703320" cy="1051560"/>
          </a:xfrm>
          <a:prstGeom prst="rect">
            <a:avLst/>
          </a:prstGeom>
          <a:noFill/>
          <a:ln/>
        </p:spPr>
        <p:txBody>
          <a:bodyPr wrap="square" lIns="0" tIns="0" rIns="0" bIns="0" rtlCol="0" anchor="t"/>
          <a:lstStyle/>
          <a:p>
            <a:pPr indent="0" marL="0">
              <a:buNone/>
            </a:pPr>
            <a:r>
              <a:rPr lang="en-US" sz="1400" dirty="0">
                <a:solidFill>
                  <a:schemeClr val="tx1"/>
                </a:solidFill>
              </a:rPr>
              <a:t>of handwritten prescriptions were legible at a Uasin Gishu public hospital, even after an improvement project (Amdany &amp; Kiprop, 2023)</a:t>
            </a:r>
            <a:endParaRPr lang="en-US" sz="1400" dirty="0"/>
          </a:p>
        </p:txBody>
      </p:sp>
      <p:sp>
        <p:nvSpPr>
          <p:cNvPr id="6" name="stat 2 card"/>
          <p:cNvSpPr/>
          <p:nvPr/>
        </p:nvSpPr>
        <p:spPr>
          <a:xfrm>
            <a:off x="548640" y="3794760"/>
            <a:ext cx="4206240" cy="2240280"/>
          </a:xfrm>
          <a:prstGeom prst="roundRect">
            <a:avLst>
              <a:gd name="adj" fmla="val 3265"/>
            </a:avLst>
          </a:prstGeom>
          <a:solidFill>
            <a:schemeClr val="bg2"/>
          </a:solidFill>
          <a:ln w="12700">
            <a:solidFill>
              <a:schemeClr val="bg2"/>
            </a:solidFill>
            <a:prstDash val="solid"/>
          </a:ln>
        </p:spPr>
      </p:sp>
      <p:sp>
        <p:nvSpPr>
          <p:cNvPr id="7" name="Text 5"/>
          <p:cNvSpPr txBox="1"/>
          <p:nvPr/>
        </p:nvSpPr>
        <p:spPr>
          <a:xfrm>
            <a:off x="822960" y="3931920"/>
            <a:ext cx="365760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16.1%</a:t>
            </a:r>
            <a:endParaRPr lang="en-US" sz="6000" dirty="0"/>
          </a:p>
        </p:txBody>
      </p:sp>
      <p:sp>
        <p:nvSpPr>
          <p:cNvPr id="8" name="Text 6"/>
          <p:cNvSpPr txBox="1"/>
          <p:nvPr/>
        </p:nvSpPr>
        <p:spPr>
          <a:xfrm>
            <a:off x="822960" y="4892040"/>
            <a:ext cx="3703320" cy="1051560"/>
          </a:xfrm>
          <a:prstGeom prst="rect">
            <a:avLst/>
          </a:prstGeom>
          <a:noFill/>
          <a:ln/>
        </p:spPr>
        <p:txBody>
          <a:bodyPr wrap="square" lIns="0" tIns="0" rIns="0" bIns="0" rtlCol="0" anchor="t"/>
          <a:lstStyle/>
          <a:p>
            <a:pPr indent="0" marL="0">
              <a:buNone/>
            </a:pPr>
            <a:r>
              <a:rPr lang="en-US" sz="1400" dirty="0">
                <a:solidFill>
                  <a:schemeClr val="tx1"/>
                </a:solidFill>
              </a:rPr>
              <a:t>availability of NCD medicines at Kenyan dispensaries across 8 counties, so patients travel between pharmacies (Ashigbie et al., 2020)</a:t>
            </a:r>
            <a:endParaRPr lang="en-US" sz="1400" dirty="0"/>
          </a:p>
        </p:txBody>
      </p:sp>
      <p:sp>
        <p:nvSpPr>
          <p:cNvPr id="9" name="Text 7"/>
          <p:cNvSpPr txBox="1"/>
          <p:nvPr/>
        </p:nvSpPr>
        <p:spPr>
          <a:xfrm>
            <a:off x="5212080" y="1325880"/>
            <a:ext cx="6400800" cy="411480"/>
          </a:xfrm>
          <a:prstGeom prst="rect">
            <a:avLst/>
          </a:prstGeom>
          <a:noFill/>
          <a:ln/>
        </p:spPr>
        <p:txBody>
          <a:bodyPr wrap="square" lIns="0" tIns="0" rIns="0" bIns="0" rtlCol="0" anchor="t"/>
          <a:lstStyle/>
          <a:p>
            <a:pPr indent="0" marL="0">
              <a:buNone/>
            </a:pPr>
            <a:r>
              <a:rPr lang="en-US" sz="2000" b="1" dirty="0">
                <a:solidFill>
                  <a:schemeClr val="tx2"/>
                </a:solidFill>
              </a:rPr>
              <a:t>How PharmaFinder answers both</a:t>
            </a:r>
            <a:endParaRPr lang="en-US" sz="2000" dirty="0"/>
          </a:p>
        </p:txBody>
      </p:sp>
      <p:sp>
        <p:nvSpPr>
          <p:cNvPr id="10" name="step 1 icon circle"/>
          <p:cNvSpPr/>
          <p:nvPr/>
        </p:nvSpPr>
        <p:spPr>
          <a:xfrm>
            <a:off x="5212080" y="1920240"/>
            <a:ext cx="594360" cy="594360"/>
          </a:xfrm>
          <a:prstGeom prst="ellipse">
            <a:avLst/>
          </a:prstGeom>
          <a:solidFill>
            <a:schemeClr val="accent1"/>
          </a:solidFill>
          <a:ln w="12700">
            <a:solidFill>
              <a:schemeClr val="accent1"/>
            </a:solidFill>
            <a:prstDash val="solid"/>
          </a:ln>
        </p:spPr>
      </p:sp>
      <p:pic>
        <p:nvPicPr>
          <p:cNvPr id="11" name="step 1 icon" descr="preencoded.png">    </p:cNvPr>
          <p:cNvPicPr>
            <a:picLocks noChangeAspect="1"/>
          </p:cNvPicPr>
          <p:nvPr/>
        </p:nvPicPr>
        <p:blipFill>
          <a:blip r:embed="rId1"/>
          <a:stretch>
            <a:fillRect/>
          </a:stretch>
        </p:blipFill>
        <p:spPr>
          <a:xfrm>
            <a:off x="5354726" y="2062886"/>
            <a:ext cx="309067" cy="309067"/>
          </a:xfrm>
          <a:prstGeom prst="rect">
            <a:avLst/>
          </a:prstGeom>
        </p:spPr>
      </p:pic>
      <p:sp>
        <p:nvSpPr>
          <p:cNvPr id="12" name="Text 9"/>
          <p:cNvSpPr txBox="1"/>
          <p:nvPr/>
        </p:nvSpPr>
        <p:spPr>
          <a:xfrm>
            <a:off x="6035040" y="1901952"/>
            <a:ext cx="5577840" cy="365760"/>
          </a:xfrm>
          <a:prstGeom prst="rect">
            <a:avLst/>
          </a:prstGeom>
          <a:noFill/>
          <a:ln/>
        </p:spPr>
        <p:txBody>
          <a:bodyPr wrap="square" lIns="0" tIns="0" rIns="0" bIns="0" rtlCol="0" anchor="t"/>
          <a:lstStyle/>
          <a:p>
            <a:pPr indent="0" marL="0">
              <a:buNone/>
            </a:pPr>
            <a:r>
              <a:rPr lang="en-US" sz="1700" b="1" dirty="0">
                <a:solidFill>
                  <a:schemeClr val="tx1"/>
                </a:solidFill>
              </a:rPr>
              <a:t>Doctor issues a structured prescription</a:t>
            </a:r>
            <a:endParaRPr lang="en-US" sz="1700" dirty="0"/>
          </a:p>
        </p:txBody>
      </p:sp>
      <p:sp>
        <p:nvSpPr>
          <p:cNvPr id="13" name="Text 10"/>
          <p:cNvSpPr txBox="1"/>
          <p:nvPr/>
        </p:nvSpPr>
        <p:spPr>
          <a:xfrm>
            <a:off x="6035040" y="2267712"/>
            <a:ext cx="5577840" cy="548640"/>
          </a:xfrm>
          <a:prstGeom prst="rect">
            <a:avLst/>
          </a:prstGeom>
          <a:noFill/>
          <a:ln/>
        </p:spPr>
        <p:txBody>
          <a:bodyPr wrap="square" lIns="0" tIns="0" rIns="0" bIns="0" rtlCol="0" anchor="t"/>
          <a:lstStyle/>
          <a:p>
            <a:pPr indent="0" marL="0">
              <a:buNone/>
            </a:pPr>
            <a:r>
              <a:rPr lang="en-US" sz="1400" dirty="0">
                <a:solidFill>
                  <a:schemeClr val="accent4"/>
                </a:solidFill>
              </a:rPr>
              <a:t>Every field validated by the API; unique code, expiry date, alert to the patient</a:t>
            </a:r>
            <a:endParaRPr lang="en-US" sz="1400" dirty="0"/>
          </a:p>
        </p:txBody>
      </p:sp>
      <p:sp>
        <p:nvSpPr>
          <p:cNvPr id="14" name="step 2 icon circle"/>
          <p:cNvSpPr/>
          <p:nvPr/>
        </p:nvSpPr>
        <p:spPr>
          <a:xfrm>
            <a:off x="5212080" y="2971800"/>
            <a:ext cx="594360" cy="594360"/>
          </a:xfrm>
          <a:prstGeom prst="ellipse">
            <a:avLst/>
          </a:prstGeom>
          <a:solidFill>
            <a:schemeClr val="accent1"/>
          </a:solidFill>
          <a:ln w="12700">
            <a:solidFill>
              <a:schemeClr val="accent1"/>
            </a:solidFill>
            <a:prstDash val="solid"/>
          </a:ln>
        </p:spPr>
      </p:sp>
      <p:pic>
        <p:nvPicPr>
          <p:cNvPr id="15" name="step 2 icon" descr="preencoded.png">    </p:cNvPr>
          <p:cNvPicPr>
            <a:picLocks noChangeAspect="1"/>
          </p:cNvPicPr>
          <p:nvPr/>
        </p:nvPicPr>
        <p:blipFill>
          <a:blip r:embed="rId2"/>
          <a:stretch>
            <a:fillRect/>
          </a:stretch>
        </p:blipFill>
        <p:spPr>
          <a:xfrm>
            <a:off x="5354726" y="3114446"/>
            <a:ext cx="309067" cy="309067"/>
          </a:xfrm>
          <a:prstGeom prst="rect">
            <a:avLst/>
          </a:prstGeom>
        </p:spPr>
      </p:pic>
      <p:sp>
        <p:nvSpPr>
          <p:cNvPr id="16" name="Text 12"/>
          <p:cNvSpPr txBox="1"/>
          <p:nvPr/>
        </p:nvSpPr>
        <p:spPr>
          <a:xfrm>
            <a:off x="6035040" y="2953512"/>
            <a:ext cx="5577840" cy="365760"/>
          </a:xfrm>
          <a:prstGeom prst="rect">
            <a:avLst/>
          </a:prstGeom>
          <a:noFill/>
          <a:ln/>
        </p:spPr>
        <p:txBody>
          <a:bodyPr wrap="square" lIns="0" tIns="0" rIns="0" bIns="0" rtlCol="0" anchor="t"/>
          <a:lstStyle/>
          <a:p>
            <a:pPr indent="0" marL="0">
              <a:buNone/>
            </a:pPr>
            <a:r>
              <a:rPr lang="en-US" sz="1700" b="1" dirty="0">
                <a:solidFill>
                  <a:schemeClr val="tx1"/>
                </a:solidFill>
              </a:rPr>
              <a:t>Patient finds pharmacies that can fill it</a:t>
            </a:r>
            <a:endParaRPr lang="en-US" sz="1700" dirty="0"/>
          </a:p>
        </p:txBody>
      </p:sp>
      <p:sp>
        <p:nvSpPr>
          <p:cNvPr id="17" name="Text 13"/>
          <p:cNvSpPr txBox="1"/>
          <p:nvPr/>
        </p:nvSpPr>
        <p:spPr>
          <a:xfrm>
            <a:off x="6035040" y="3319272"/>
            <a:ext cx="5577840" cy="548640"/>
          </a:xfrm>
          <a:prstGeom prst="rect">
            <a:avLst/>
          </a:prstGeom>
          <a:noFill/>
          <a:ln/>
        </p:spPr>
        <p:txBody>
          <a:bodyPr wrap="square" lIns="0" tIns="0" rIns="0" bIns="0" rtlCol="0" anchor="t"/>
          <a:lstStyle/>
          <a:p>
            <a:pPr indent="0" marL="0">
              <a:buNone/>
            </a:pPr>
            <a:r>
              <a:rPr lang="en-US" sz="1400" dirty="0">
                <a:solidFill>
                  <a:schemeClr val="accent4"/>
                </a:solidFill>
              </a:rPr>
              <a:t>Ranked by full stock coverage, then distance and price, on a Leaflet map</a:t>
            </a:r>
            <a:endParaRPr lang="en-US" sz="1400" dirty="0"/>
          </a:p>
        </p:txBody>
      </p:sp>
      <p:sp>
        <p:nvSpPr>
          <p:cNvPr id="18" name="step 3 icon circle"/>
          <p:cNvSpPr/>
          <p:nvPr/>
        </p:nvSpPr>
        <p:spPr>
          <a:xfrm>
            <a:off x="5212080" y="4023360"/>
            <a:ext cx="594360" cy="594360"/>
          </a:xfrm>
          <a:prstGeom prst="ellipse">
            <a:avLst/>
          </a:prstGeom>
          <a:solidFill>
            <a:schemeClr val="accent1"/>
          </a:solidFill>
          <a:ln w="12700">
            <a:solidFill>
              <a:schemeClr val="accent1"/>
            </a:solidFill>
            <a:prstDash val="solid"/>
          </a:ln>
        </p:spPr>
      </p:sp>
      <p:pic>
        <p:nvPicPr>
          <p:cNvPr id="19" name="step 3 icon" descr="preencoded.png">    </p:cNvPr>
          <p:cNvPicPr>
            <a:picLocks noChangeAspect="1"/>
          </p:cNvPicPr>
          <p:nvPr/>
        </p:nvPicPr>
        <p:blipFill>
          <a:blip r:embed="rId3"/>
          <a:stretch>
            <a:fillRect/>
          </a:stretch>
        </p:blipFill>
        <p:spPr>
          <a:xfrm>
            <a:off x="5354726" y="4166006"/>
            <a:ext cx="309067" cy="309067"/>
          </a:xfrm>
          <a:prstGeom prst="rect">
            <a:avLst/>
          </a:prstGeom>
        </p:spPr>
      </p:pic>
      <p:sp>
        <p:nvSpPr>
          <p:cNvPr id="20" name="Text 15"/>
          <p:cNvSpPr txBox="1"/>
          <p:nvPr/>
        </p:nvSpPr>
        <p:spPr>
          <a:xfrm>
            <a:off x="6035040" y="4005072"/>
            <a:ext cx="5577840" cy="365760"/>
          </a:xfrm>
          <a:prstGeom prst="rect">
            <a:avLst/>
          </a:prstGeom>
          <a:noFill/>
          <a:ln/>
        </p:spPr>
        <p:txBody>
          <a:bodyPr wrap="square" lIns="0" tIns="0" rIns="0" bIns="0" rtlCol="0" anchor="t"/>
          <a:lstStyle/>
          <a:p>
            <a:pPr indent="0" marL="0">
              <a:buNone/>
            </a:pPr>
            <a:r>
              <a:rPr lang="en-US" sz="1700" b="1" dirty="0">
                <a:solidFill>
                  <a:schemeClr val="tx1"/>
                </a:solidFill>
              </a:rPr>
              <a:t>Patient shares it with one pharmacy</a:t>
            </a:r>
            <a:endParaRPr lang="en-US" sz="1700" dirty="0"/>
          </a:p>
        </p:txBody>
      </p:sp>
      <p:sp>
        <p:nvSpPr>
          <p:cNvPr id="21" name="Text 16"/>
          <p:cNvSpPr txBox="1"/>
          <p:nvPr/>
        </p:nvSpPr>
        <p:spPr>
          <a:xfrm>
            <a:off x="6035040" y="4370832"/>
            <a:ext cx="5577840" cy="548640"/>
          </a:xfrm>
          <a:prstGeom prst="rect">
            <a:avLst/>
          </a:prstGeom>
          <a:noFill/>
          <a:ln/>
        </p:spPr>
        <p:txBody>
          <a:bodyPr wrap="square" lIns="0" tIns="0" rIns="0" bIns="0" rtlCol="0" anchor="t"/>
          <a:lstStyle/>
          <a:p>
            <a:pPr indent="0" marL="0">
              <a:buNone/>
            </a:pPr>
            <a:r>
              <a:rPr lang="en-US" sz="1400" dirty="0">
                <a:solidFill>
                  <a:schemeClr val="accent4"/>
                </a:solidFill>
              </a:rPr>
              <a:t>Time-limited access the patient can revoke at any moment</a:t>
            </a:r>
            <a:endParaRPr lang="en-US" sz="1400" dirty="0"/>
          </a:p>
        </p:txBody>
      </p:sp>
      <p:sp>
        <p:nvSpPr>
          <p:cNvPr id="22" name="step 4 icon circle"/>
          <p:cNvSpPr/>
          <p:nvPr/>
        </p:nvSpPr>
        <p:spPr>
          <a:xfrm>
            <a:off x="5212080" y="5074920"/>
            <a:ext cx="594360" cy="594360"/>
          </a:xfrm>
          <a:prstGeom prst="ellipse">
            <a:avLst/>
          </a:prstGeom>
          <a:solidFill>
            <a:schemeClr val="accent1"/>
          </a:solidFill>
          <a:ln w="12700">
            <a:solidFill>
              <a:schemeClr val="accent1"/>
            </a:solidFill>
            <a:prstDash val="solid"/>
          </a:ln>
        </p:spPr>
      </p:sp>
      <p:pic>
        <p:nvPicPr>
          <p:cNvPr id="23" name="step 4 icon" descr="preencoded.png">    </p:cNvPr>
          <p:cNvPicPr>
            <a:picLocks noChangeAspect="1"/>
          </p:cNvPicPr>
          <p:nvPr/>
        </p:nvPicPr>
        <p:blipFill>
          <a:blip r:embed="rId4"/>
          <a:stretch>
            <a:fillRect/>
          </a:stretch>
        </p:blipFill>
        <p:spPr>
          <a:xfrm>
            <a:off x="5354726" y="5217566"/>
            <a:ext cx="309067" cy="309067"/>
          </a:xfrm>
          <a:prstGeom prst="rect">
            <a:avLst/>
          </a:prstGeom>
        </p:spPr>
      </p:pic>
      <p:sp>
        <p:nvSpPr>
          <p:cNvPr id="24" name="Text 18"/>
          <p:cNvSpPr txBox="1"/>
          <p:nvPr/>
        </p:nvSpPr>
        <p:spPr>
          <a:xfrm>
            <a:off x="6035040" y="5056632"/>
            <a:ext cx="5577840" cy="365760"/>
          </a:xfrm>
          <a:prstGeom prst="rect">
            <a:avLst/>
          </a:prstGeom>
          <a:noFill/>
          <a:ln/>
        </p:spPr>
        <p:txBody>
          <a:bodyPr wrap="square" lIns="0" tIns="0" rIns="0" bIns="0" rtlCol="0" anchor="t"/>
          <a:lstStyle/>
          <a:p>
            <a:pPr indent="0" marL="0">
              <a:buNone/>
            </a:pPr>
            <a:r>
              <a:rPr lang="en-US" sz="1700" b="1" dirty="0">
                <a:solidFill>
                  <a:schemeClr val="tx1"/>
                </a:solidFill>
              </a:rPr>
              <a:t>Pharmacist verifies and dispenses</a:t>
            </a:r>
            <a:endParaRPr lang="en-US" sz="1700" dirty="0"/>
          </a:p>
        </p:txBody>
      </p:sp>
      <p:sp>
        <p:nvSpPr>
          <p:cNvPr id="25" name="Text 19"/>
          <p:cNvSpPr txBox="1"/>
          <p:nvPr/>
        </p:nvSpPr>
        <p:spPr>
          <a:xfrm>
            <a:off x="6035040" y="5422392"/>
            <a:ext cx="5577840" cy="548640"/>
          </a:xfrm>
          <a:prstGeom prst="rect">
            <a:avLst/>
          </a:prstGeom>
          <a:noFill/>
          <a:ln/>
        </p:spPr>
        <p:txBody>
          <a:bodyPr wrap="square" lIns="0" tIns="0" rIns="0" bIns="0" rtlCol="0" anchor="t"/>
          <a:lstStyle/>
          <a:p>
            <a:pPr indent="0" marL="0">
              <a:buNone/>
            </a:pPr>
            <a:r>
              <a:rPr lang="en-US" sz="1400" dirty="0">
                <a:solidFill>
                  <a:schemeClr val="accent4"/>
                </a:solidFill>
              </a:rPr>
              <a:t>Stock falls in the same transaction; the code can never be used again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is built, and what changed</a:t>
            </a:r>
            <a:endParaRPr lang="en-US" sz="3400" dirty="0"/>
          </a:p>
        </p:txBody>
      </p:sp>
      <p:graphicFrame>
        <p:nvGraphicFramePr>
          <p:cNvPr id="4" name="feature table"/>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3108960"/>
                <a:gridCol w="1737360"/>
                <a:gridCol w="1920240"/>
              </a:tblGrid>
              <a:tr h="384048">
                <a:tc>
                  <a:txBody>
                    <a:bodyPr/>
                    <a:lstStyle/>
                    <a:p>
                      <a:pPr indent="0" marL="0">
                        <a:buNone/>
                      </a:pPr>
                      <a:r>
                        <a:rPr lang="en-US" sz="1300" b="1" dirty="0">
                          <a:solidFill>
                            <a:schemeClr val="bg1"/>
                          </a:solidFill>
                        </a:rPr>
                        <a:t>Feature</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Status</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Evidence</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r>
              <a:tr h="384048">
                <a:tc>
                  <a:txBody>
                    <a:bodyPr/>
                    <a:lstStyle/>
                    <a:p>
                      <a:pPr indent="0" marL="0">
                        <a:buNone/>
                      </a:pPr>
                      <a:r>
                        <a:rPr lang="en-US" sz="1300" dirty="0">
                          <a:solidFill>
                            <a:schemeClr val="tx1"/>
                          </a:solidFill>
                        </a:rPr>
                        <a:t>Registration, login, four roles</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test_auth.py (9 tests)</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Prescription form, unique code, issue alert</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test_prescriptions.py</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Patient prescription history</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test_patient_sees_only_own…</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Share with a pharmacy, revoke</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test_sharing.py (6 tests)</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Medicine search, filters, sort, map</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test_stock_search.py</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Stock management</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test_stock_search.py</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Code verification and dispensing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test_dispense.py (7 tests)</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Admin dashboard and audit log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1"/>
                          </a:solidFill>
                        </a:rPr>
                        <a:t>Working</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test_admin_journey.py</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384048">
                <a:tc>
                  <a:txBody>
                    <a:bodyPr/>
                    <a:lstStyle/>
                    <a:p>
                      <a:pPr indent="0" marL="0">
                        <a:buNone/>
                      </a:pPr>
                      <a:r>
                        <a:rPr lang="en-US" sz="1300" dirty="0">
                          <a:solidFill>
                            <a:schemeClr val="tx1"/>
                          </a:solidFill>
                        </a:rPr>
                        <a:t>Deployment on Vercel</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300" b="1" dirty="0">
                          <a:solidFill>
                            <a:schemeClr val="accent2"/>
                          </a:solidFill>
                        </a:rPr>
                        <a:t>Ready, not deployed</a:t>
                      </a:r>
                      <a:endParaRPr lang="en-US" sz="13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200" dirty="0">
                          <a:solidFill>
                            <a:schemeClr val="accent4"/>
                          </a:solidFill>
                        </a:rPr>
                        <a:t>Steps in README</a:t>
                      </a:r>
                      <a:endParaRPr lang="en-US" sz="1200" dirty="0"/>
                    </a:p>
                  </a:txBody>
                  <a:tcPr marL="73152" marR="73152" marT="27432" marB="27432"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bl>
          </a:graphicData>
        </a:graphic>
      </p:graphicFrame>
      <p:sp>
        <p:nvSpPr>
          <p:cNvPr id="4" name="changes card"/>
          <p:cNvSpPr/>
          <p:nvPr/>
        </p:nvSpPr>
        <p:spPr>
          <a:xfrm>
            <a:off x="7680960" y="1325880"/>
            <a:ext cx="3931920" cy="2331720"/>
          </a:xfrm>
          <a:prstGeom prst="roundRect">
            <a:avLst>
              <a:gd name="adj" fmla="val 3137"/>
            </a:avLst>
          </a:prstGeom>
          <a:solidFill>
            <a:schemeClr val="bg2"/>
          </a:solidFill>
          <a:ln w="12700">
            <a:solidFill>
              <a:schemeClr val="bg2"/>
            </a:solidFill>
            <a:prstDash val="solid"/>
          </a:ln>
        </p:spPr>
      </p:sp>
      <p:sp>
        <p:nvSpPr>
          <p:cNvPr id="5" name="Text 2"/>
          <p:cNvSpPr txBox="1"/>
          <p:nvPr/>
        </p:nvSpPr>
        <p:spPr>
          <a:xfrm>
            <a:off x="7909560" y="1463040"/>
            <a:ext cx="3566160" cy="365760"/>
          </a:xfrm>
          <a:prstGeom prst="rect">
            <a:avLst/>
          </a:prstGeom>
          <a:noFill/>
          <a:ln/>
        </p:spPr>
        <p:txBody>
          <a:bodyPr wrap="square" lIns="0" tIns="0" rIns="0" bIns="0" rtlCol="0" anchor="t"/>
          <a:lstStyle/>
          <a:p>
            <a:pPr indent="0" marL="0">
              <a:buNone/>
            </a:pPr>
            <a:r>
              <a:rPr lang="en-US" sz="1600" b="1" dirty="0">
                <a:solidFill>
                  <a:schemeClr val="tx2"/>
                </a:solidFill>
              </a:rPr>
              <a:t>Changed from the proposal</a:t>
            </a:r>
            <a:endParaRPr lang="en-US" sz="1600" dirty="0"/>
          </a:p>
        </p:txBody>
      </p:sp>
      <p:sp>
        <p:nvSpPr>
          <p:cNvPr id="6" name="Text 3"/>
          <p:cNvSpPr txBox="1"/>
          <p:nvPr/>
        </p:nvSpPr>
        <p:spPr>
          <a:xfrm>
            <a:off x="7909560" y="1874520"/>
            <a:ext cx="3566160" cy="16916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QR code replaced by an 8-character code</a:t>
            </a:r>
            <a:endParaRPr lang="en-US" sz="1300" dirty="0"/>
          </a:p>
          <a:p>
            <a:pPr marL="342900" indent="-342900">
              <a:spcAft>
                <a:spcPts val="300"/>
              </a:spcAft>
              <a:buSzPct val="100000"/>
              <a:buChar char="•"/>
            </a:pPr>
            <a:r>
              <a:rPr lang="en-US" sz="1300" dirty="0">
                <a:solidFill>
                  <a:schemeClr val="tx1"/>
                </a:solidFill>
              </a:rPr>
              <a:t>Reservations and payment dropped</a:t>
            </a:r>
            <a:endParaRPr lang="en-US" sz="1300" dirty="0"/>
          </a:p>
          <a:p>
            <a:pPr marL="342900" indent="-342900">
              <a:spcAft>
                <a:spcPts val="300"/>
              </a:spcAft>
              <a:buSzPct val="100000"/>
              <a:buChar char="•"/>
            </a:pPr>
            <a:r>
              <a:rPr lang="en-US" sz="1300" dirty="0">
                <a:solidFill>
                  <a:schemeClr val="tx1"/>
                </a:solidFill>
              </a:rPr>
              <a:t>Digital signature dropped</a:t>
            </a:r>
            <a:endParaRPr lang="en-US" sz="1300" dirty="0"/>
          </a:p>
          <a:p>
            <a:pPr marL="342900" indent="-342900">
              <a:spcAft>
                <a:spcPts val="300"/>
              </a:spcAft>
              <a:buSzPct val="100000"/>
              <a:buChar char="•"/>
            </a:pPr>
            <a:r>
              <a:rPr lang="en-US" sz="1300" dirty="0">
                <a:solidFill>
                  <a:schemeClr val="tx1"/>
                </a:solidFill>
              </a:rPr>
              <a:t>No self-registration for doctors or pharmacists; the admin creates them</a:t>
            </a:r>
            <a:endParaRPr lang="en-US" sz="1300" dirty="0"/>
          </a:p>
        </p:txBody>
      </p:sp>
      <p:sp>
        <p:nvSpPr>
          <p:cNvPr id="7" name="doctor issued screenshot frame"/>
          <p:cNvSpPr/>
          <p:nvPr/>
        </p:nvSpPr>
        <p:spPr>
          <a:xfrm>
            <a:off x="7662672" y="3867912"/>
            <a:ext cx="3968496" cy="1209386"/>
          </a:xfrm>
          <a:prstGeom prst="rect">
            <a:avLst/>
          </a:prstGeom>
          <a:solidFill>
            <a:srgbClr val="D6DED9"/>
          </a:solidFill>
          <a:ln w="12700">
            <a:solidFill>
              <a:srgbClr val="D6DED9"/>
            </a:solidFill>
            <a:prstDash val="solid"/>
          </a:ln>
        </p:spPr>
      </p:sp>
      <p:pic>
        <p:nvPicPr>
          <p:cNvPr id="8" name="doctor issued screenshot" descr="doctor issued screenshot">    </p:cNvPr>
          <p:cNvPicPr>
            <a:picLocks noChangeAspect="1"/>
          </p:cNvPicPr>
          <p:nvPr/>
        </p:nvPicPr>
        <p:blipFill>
          <a:blip r:embed="rId1"/>
          <a:stretch>
            <a:fillRect/>
          </a:stretch>
        </p:blipFill>
        <p:spPr>
          <a:xfrm>
            <a:off x="7680960" y="3886200"/>
            <a:ext cx="3931920" cy="1172810"/>
          </a:xfrm>
          <a:prstGeom prst="rect">
            <a:avLst/>
          </a:prstGeom>
        </p:spPr>
      </p:pic>
      <p:sp>
        <p:nvSpPr>
          <p:cNvPr id="9" name="Text 5"/>
          <p:cNvSpPr txBox="1"/>
          <p:nvPr/>
        </p:nvSpPr>
        <p:spPr>
          <a:xfrm>
            <a:off x="7680960" y="5138928"/>
            <a:ext cx="3931920" cy="274320"/>
          </a:xfrm>
          <a:prstGeom prst="rect">
            <a:avLst/>
          </a:prstGeom>
          <a:noFill/>
          <a:ln/>
        </p:spPr>
        <p:txBody>
          <a:bodyPr wrap="square" lIns="0" tIns="0" rIns="0" bIns="0" rtlCol="0" anchor="t"/>
          <a:lstStyle/>
          <a:p>
            <a:pPr indent="0" marL="0">
              <a:buNone/>
            </a:pPr>
            <a:r>
              <a:rPr lang="en-US" sz="1100" dirty="0">
                <a:solidFill>
                  <a:schemeClr val="accent4"/>
                </a:solidFill>
              </a:rPr>
              <a:t>A prescription issued in the running app (synthetic data)</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Technology choices</a:t>
            </a:r>
            <a:endParaRPr lang="en-US" sz="3400" dirty="0"/>
          </a:p>
        </p:txBody>
      </p:sp>
      <p:sp>
        <p:nvSpPr>
          <p:cNvPr id="3" name="stack card 1"/>
          <p:cNvSpPr/>
          <p:nvPr/>
        </p:nvSpPr>
        <p:spPr>
          <a:xfrm>
            <a:off x="548640" y="1371600"/>
            <a:ext cx="3520440" cy="2286000"/>
          </a:xfrm>
          <a:prstGeom prst="roundRect">
            <a:avLst>
              <a:gd name="adj" fmla="val 3200"/>
            </a:avLst>
          </a:prstGeom>
          <a:solidFill>
            <a:schemeClr val="bg2"/>
          </a:solidFill>
          <a:ln w="12700">
            <a:solidFill>
              <a:schemeClr val="bg2"/>
            </a:solidFill>
            <a:prstDash val="solid"/>
          </a:ln>
        </p:spPr>
      </p:sp>
      <p:sp>
        <p:nvSpPr>
          <p:cNvPr id="4" name="stack icon 1 circle"/>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5" name="stack icon 1" descr="preencoded.png">    </p:cNvPr>
          <p:cNvPicPr>
            <a:picLocks noChangeAspect="1"/>
          </p:cNvPicPr>
          <p:nvPr/>
        </p:nvPicPr>
        <p:blipFill>
          <a:blip r:embed="rId1"/>
          <a:stretch>
            <a:fillRect/>
          </a:stretch>
        </p:blipFill>
        <p:spPr>
          <a:xfrm>
            <a:off x="908914" y="1731874"/>
            <a:ext cx="285293" cy="285293"/>
          </a:xfrm>
          <a:prstGeom prst="rect">
            <a:avLst/>
          </a:prstGeom>
        </p:spPr>
      </p:pic>
      <p:sp>
        <p:nvSpPr>
          <p:cNvPr id="6" name="Text 3"/>
          <p:cNvSpPr txBox="1"/>
          <p:nvPr/>
        </p:nvSpPr>
        <p:spPr>
          <a:xfrm>
            <a:off x="1463040" y="16459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Python 3 + Flask</a:t>
            </a:r>
            <a:endParaRPr lang="en-US" sz="1600" dirty="0"/>
          </a:p>
        </p:txBody>
      </p:sp>
      <p:sp>
        <p:nvSpPr>
          <p:cNvPr id="7" name="Text 4"/>
          <p:cNvSpPr txBox="1"/>
          <p:nvPr/>
        </p:nvSpPr>
        <p:spPr>
          <a:xfrm>
            <a:off x="777240" y="2286000"/>
            <a:ext cx="3063240" cy="1280160"/>
          </a:xfrm>
          <a:prstGeom prst="rect">
            <a:avLst/>
          </a:prstGeom>
          <a:noFill/>
          <a:ln/>
        </p:spPr>
        <p:txBody>
          <a:bodyPr wrap="square" lIns="0" tIns="0" rIns="0" bIns="0" rtlCol="0" anchor="t"/>
          <a:lstStyle/>
          <a:p>
            <a:pPr indent="0" marL="0">
              <a:buNone/>
            </a:pPr>
            <a:r>
              <a:rPr lang="en-US" sz="1300" dirty="0">
                <a:solidFill>
                  <a:schemeClr val="tx1"/>
                </a:solidFill>
              </a:rPr>
              <a:t>Small REST API with blueprints per role. Chosen over Django: we need an API, not an admin site or ORM.</a:t>
            </a:r>
            <a:endParaRPr lang="en-US" sz="1300" dirty="0"/>
          </a:p>
        </p:txBody>
      </p:sp>
      <p:sp>
        <p:nvSpPr>
          <p:cNvPr id="8" name="stack card 2"/>
          <p:cNvSpPr/>
          <p:nvPr/>
        </p:nvSpPr>
        <p:spPr>
          <a:xfrm>
            <a:off x="4297680" y="1371600"/>
            <a:ext cx="3520440" cy="2286000"/>
          </a:xfrm>
          <a:prstGeom prst="roundRect">
            <a:avLst>
              <a:gd name="adj" fmla="val 3200"/>
            </a:avLst>
          </a:prstGeom>
          <a:solidFill>
            <a:schemeClr val="bg2"/>
          </a:solidFill>
          <a:ln w="12700">
            <a:solidFill>
              <a:schemeClr val="bg2"/>
            </a:solidFill>
            <a:prstDash val="solid"/>
          </a:ln>
        </p:spPr>
      </p:sp>
      <p:sp>
        <p:nvSpPr>
          <p:cNvPr id="9" name="stack icon 2 circle"/>
          <p:cNvSpPr/>
          <p:nvPr/>
        </p:nvSpPr>
        <p:spPr>
          <a:xfrm>
            <a:off x="4526280" y="1600200"/>
            <a:ext cx="548640" cy="548640"/>
          </a:xfrm>
          <a:prstGeom prst="ellipse">
            <a:avLst/>
          </a:prstGeom>
          <a:solidFill>
            <a:schemeClr val="accent1"/>
          </a:solidFill>
          <a:ln w="12700">
            <a:solidFill>
              <a:schemeClr val="accent1"/>
            </a:solidFill>
            <a:prstDash val="solid"/>
          </a:ln>
        </p:spPr>
      </p:sp>
      <p:pic>
        <p:nvPicPr>
          <p:cNvPr id="10" name="stack icon 2" descr="preencoded.png">    </p:cNvPr>
          <p:cNvPicPr>
            <a:picLocks noChangeAspect="1"/>
          </p:cNvPicPr>
          <p:nvPr/>
        </p:nvPicPr>
        <p:blipFill>
          <a:blip r:embed="rId2"/>
          <a:stretch>
            <a:fillRect/>
          </a:stretch>
        </p:blipFill>
        <p:spPr>
          <a:xfrm>
            <a:off x="4657954" y="1731874"/>
            <a:ext cx="285293" cy="285293"/>
          </a:xfrm>
          <a:prstGeom prst="rect">
            <a:avLst/>
          </a:prstGeom>
        </p:spPr>
      </p:pic>
      <p:sp>
        <p:nvSpPr>
          <p:cNvPr id="11" name="Text 7"/>
          <p:cNvSpPr txBox="1"/>
          <p:nvPr/>
        </p:nvSpPr>
        <p:spPr>
          <a:xfrm>
            <a:off x="5212080" y="16459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MySQL 8</a:t>
            </a:r>
            <a:endParaRPr lang="en-US" sz="1600" dirty="0"/>
          </a:p>
        </p:txBody>
      </p:sp>
      <p:sp>
        <p:nvSpPr>
          <p:cNvPr id="12" name="Text 8"/>
          <p:cNvSpPr txBox="1"/>
          <p:nvPr/>
        </p:nvSpPr>
        <p:spPr>
          <a:xfrm>
            <a:off x="4526280" y="2286000"/>
            <a:ext cx="3063240" cy="1280160"/>
          </a:xfrm>
          <a:prstGeom prst="rect">
            <a:avLst/>
          </a:prstGeom>
          <a:noFill/>
          <a:ln/>
        </p:spPr>
        <p:txBody>
          <a:bodyPr wrap="square" lIns="0" tIns="0" rIns="0" bIns="0" rtlCol="0" anchor="t"/>
          <a:lstStyle/>
          <a:p>
            <a:pPr indent="0" marL="0">
              <a:buNone/>
            </a:pPr>
            <a:r>
              <a:rPr lang="en-US" sz="1300" dirty="0">
                <a:solidFill>
                  <a:schemeClr val="tx1"/>
                </a:solidFill>
              </a:rPr>
              <a:t>Linked data, foreign keys and transactions for dispensing. Chosen over MongoDB, which lacks relational joins and constraints.</a:t>
            </a:r>
            <a:endParaRPr lang="en-US" sz="1300" dirty="0"/>
          </a:p>
        </p:txBody>
      </p:sp>
      <p:sp>
        <p:nvSpPr>
          <p:cNvPr id="13" name="stack card 3"/>
          <p:cNvSpPr/>
          <p:nvPr/>
        </p:nvSpPr>
        <p:spPr>
          <a:xfrm>
            <a:off x="8046720" y="1371600"/>
            <a:ext cx="3520440" cy="2286000"/>
          </a:xfrm>
          <a:prstGeom prst="roundRect">
            <a:avLst>
              <a:gd name="adj" fmla="val 3200"/>
            </a:avLst>
          </a:prstGeom>
          <a:solidFill>
            <a:schemeClr val="bg2"/>
          </a:solidFill>
          <a:ln w="12700">
            <a:solidFill>
              <a:schemeClr val="bg2"/>
            </a:solidFill>
            <a:prstDash val="solid"/>
          </a:ln>
        </p:spPr>
      </p:sp>
      <p:sp>
        <p:nvSpPr>
          <p:cNvPr id="14" name="stack icon 3 circle"/>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5" name="stack icon 3" descr="preencoded.png">    </p:cNvPr>
          <p:cNvPicPr>
            <a:picLocks noChangeAspect="1"/>
          </p:cNvPicPr>
          <p:nvPr/>
        </p:nvPicPr>
        <p:blipFill>
          <a:blip r:embed="rId3"/>
          <a:stretch>
            <a:fillRect/>
          </a:stretch>
        </p:blipFill>
        <p:spPr>
          <a:xfrm>
            <a:off x="8406994" y="1731874"/>
            <a:ext cx="285293" cy="285293"/>
          </a:xfrm>
          <a:prstGeom prst="rect">
            <a:avLst/>
          </a:prstGeom>
        </p:spPr>
      </p:pic>
      <p:sp>
        <p:nvSpPr>
          <p:cNvPr id="16" name="Text 11"/>
          <p:cNvSpPr txBox="1"/>
          <p:nvPr/>
        </p:nvSpPr>
        <p:spPr>
          <a:xfrm>
            <a:off x="8961120" y="16459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HTML, CSS, JS + Bootstrap 5</a:t>
            </a:r>
            <a:endParaRPr lang="en-US" sz="1600" dirty="0"/>
          </a:p>
        </p:txBody>
      </p:sp>
      <p:sp>
        <p:nvSpPr>
          <p:cNvPr id="17" name="Text 12"/>
          <p:cNvSpPr txBox="1"/>
          <p:nvPr/>
        </p:nvSpPr>
        <p:spPr>
          <a:xfrm>
            <a:off x="8275320" y="2286000"/>
            <a:ext cx="3063240" cy="1280160"/>
          </a:xfrm>
          <a:prstGeom prst="rect">
            <a:avLst/>
          </a:prstGeom>
          <a:noFill/>
          <a:ln/>
        </p:spPr>
        <p:txBody>
          <a:bodyPr wrap="square" lIns="0" tIns="0" rIns="0" bIns="0" rtlCol="0" anchor="t"/>
          <a:lstStyle/>
          <a:p>
            <a:pPr indent="0" marL="0">
              <a:buNone/>
            </a:pPr>
            <a:r>
              <a:rPr lang="en-US" sz="1300" dirty="0">
                <a:solidFill>
                  <a:schemeClr val="tx1"/>
                </a:solidFill>
              </a:rPr>
              <a:t>No build step, so every team member can edit pages. Chosen over React for a 6-week build.</a:t>
            </a:r>
            <a:endParaRPr lang="en-US" sz="1300" dirty="0"/>
          </a:p>
        </p:txBody>
      </p:sp>
      <p:sp>
        <p:nvSpPr>
          <p:cNvPr id="18" name="stack card 4"/>
          <p:cNvSpPr/>
          <p:nvPr/>
        </p:nvSpPr>
        <p:spPr>
          <a:xfrm>
            <a:off x="548640" y="3886200"/>
            <a:ext cx="3520440" cy="2286000"/>
          </a:xfrm>
          <a:prstGeom prst="roundRect">
            <a:avLst>
              <a:gd name="adj" fmla="val 3200"/>
            </a:avLst>
          </a:prstGeom>
          <a:solidFill>
            <a:schemeClr val="bg2"/>
          </a:solidFill>
          <a:ln w="12700">
            <a:solidFill>
              <a:schemeClr val="bg2"/>
            </a:solidFill>
            <a:prstDash val="solid"/>
          </a:ln>
        </p:spPr>
      </p:sp>
      <p:sp>
        <p:nvSpPr>
          <p:cNvPr id="19" name="stack icon 4 circle"/>
          <p:cNvSpPr/>
          <p:nvPr/>
        </p:nvSpPr>
        <p:spPr>
          <a:xfrm>
            <a:off x="777240" y="4114800"/>
            <a:ext cx="548640" cy="548640"/>
          </a:xfrm>
          <a:prstGeom prst="ellipse">
            <a:avLst/>
          </a:prstGeom>
          <a:solidFill>
            <a:schemeClr val="accent1"/>
          </a:solidFill>
          <a:ln w="12700">
            <a:solidFill>
              <a:schemeClr val="accent1"/>
            </a:solidFill>
            <a:prstDash val="solid"/>
          </a:ln>
        </p:spPr>
      </p:sp>
      <p:pic>
        <p:nvPicPr>
          <p:cNvPr id="20" name="stack icon 4" descr="preencoded.png">    </p:cNvPr>
          <p:cNvPicPr>
            <a:picLocks noChangeAspect="1"/>
          </p:cNvPicPr>
          <p:nvPr/>
        </p:nvPicPr>
        <p:blipFill>
          <a:blip r:embed="rId4"/>
          <a:stretch>
            <a:fillRect/>
          </a:stretch>
        </p:blipFill>
        <p:spPr>
          <a:xfrm>
            <a:off x="908914" y="4246474"/>
            <a:ext cx="285293" cy="285293"/>
          </a:xfrm>
          <a:prstGeom prst="rect">
            <a:avLst/>
          </a:prstGeom>
        </p:spPr>
      </p:pic>
      <p:sp>
        <p:nvSpPr>
          <p:cNvPr id="21" name="Text 15"/>
          <p:cNvSpPr txBox="1"/>
          <p:nvPr/>
        </p:nvSpPr>
        <p:spPr>
          <a:xfrm>
            <a:off x="1463040" y="41605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Leaflet.js + OpenStreetMap</a:t>
            </a:r>
            <a:endParaRPr lang="en-US" sz="1600" dirty="0"/>
          </a:p>
        </p:txBody>
      </p:sp>
      <p:sp>
        <p:nvSpPr>
          <p:cNvPr id="22" name="Text 16"/>
          <p:cNvSpPr txBox="1"/>
          <p:nvPr/>
        </p:nvSpPr>
        <p:spPr>
          <a:xfrm>
            <a:off x="777240" y="4800600"/>
            <a:ext cx="3063240" cy="1280160"/>
          </a:xfrm>
          <a:prstGeom prst="rect">
            <a:avLst/>
          </a:prstGeom>
          <a:noFill/>
          <a:ln/>
        </p:spPr>
        <p:txBody>
          <a:bodyPr wrap="square" lIns="0" tIns="0" rIns="0" bIns="0" rtlCol="0" anchor="t"/>
          <a:lstStyle/>
          <a:p>
            <a:pPr indent="0" marL="0">
              <a:buNone/>
            </a:pPr>
            <a:r>
              <a:rPr lang="en-US" sz="1300" dirty="0">
                <a:solidFill>
                  <a:schemeClr val="tx1"/>
                </a:solidFill>
              </a:rPr>
              <a:t>Free and open, no API key or billing. Google Maps needs a paid key.</a:t>
            </a:r>
            <a:endParaRPr lang="en-US" sz="1300" dirty="0"/>
          </a:p>
        </p:txBody>
      </p:sp>
      <p:sp>
        <p:nvSpPr>
          <p:cNvPr id="23" name="stack card 5"/>
          <p:cNvSpPr/>
          <p:nvPr/>
        </p:nvSpPr>
        <p:spPr>
          <a:xfrm>
            <a:off x="4297680" y="3886200"/>
            <a:ext cx="3520440" cy="2286000"/>
          </a:xfrm>
          <a:prstGeom prst="roundRect">
            <a:avLst>
              <a:gd name="adj" fmla="val 3200"/>
            </a:avLst>
          </a:prstGeom>
          <a:solidFill>
            <a:schemeClr val="bg2"/>
          </a:solidFill>
          <a:ln w="12700">
            <a:solidFill>
              <a:schemeClr val="bg2"/>
            </a:solidFill>
            <a:prstDash val="solid"/>
          </a:ln>
        </p:spPr>
      </p:sp>
      <p:sp>
        <p:nvSpPr>
          <p:cNvPr id="24" name="stack icon 5 circle"/>
          <p:cNvSpPr/>
          <p:nvPr/>
        </p:nvSpPr>
        <p:spPr>
          <a:xfrm>
            <a:off x="4526280" y="4114800"/>
            <a:ext cx="548640" cy="548640"/>
          </a:xfrm>
          <a:prstGeom prst="ellipse">
            <a:avLst/>
          </a:prstGeom>
          <a:solidFill>
            <a:schemeClr val="accent1"/>
          </a:solidFill>
          <a:ln w="12700">
            <a:solidFill>
              <a:schemeClr val="accent1"/>
            </a:solidFill>
            <a:prstDash val="solid"/>
          </a:ln>
        </p:spPr>
      </p:sp>
      <p:pic>
        <p:nvPicPr>
          <p:cNvPr id="25" name="stack icon 5" descr="preencoded.png">    </p:cNvPr>
          <p:cNvPicPr>
            <a:picLocks noChangeAspect="1"/>
          </p:cNvPicPr>
          <p:nvPr/>
        </p:nvPicPr>
        <p:blipFill>
          <a:blip r:embed="rId5"/>
          <a:stretch>
            <a:fillRect/>
          </a:stretch>
        </p:blipFill>
        <p:spPr>
          <a:xfrm>
            <a:off x="4657954" y="4246474"/>
            <a:ext cx="285293" cy="285293"/>
          </a:xfrm>
          <a:prstGeom prst="rect">
            <a:avLst/>
          </a:prstGeom>
        </p:spPr>
      </p:pic>
      <p:sp>
        <p:nvSpPr>
          <p:cNvPr id="26" name="Text 19"/>
          <p:cNvSpPr txBox="1"/>
          <p:nvPr/>
        </p:nvSpPr>
        <p:spPr>
          <a:xfrm>
            <a:off x="5212080" y="41605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pytest + Postman</a:t>
            </a:r>
            <a:endParaRPr lang="en-US" sz="1600" dirty="0"/>
          </a:p>
        </p:txBody>
      </p:sp>
      <p:sp>
        <p:nvSpPr>
          <p:cNvPr id="27" name="Text 20"/>
          <p:cNvSpPr txBox="1"/>
          <p:nvPr/>
        </p:nvSpPr>
        <p:spPr>
          <a:xfrm>
            <a:off x="4526280" y="4800600"/>
            <a:ext cx="3063240" cy="1280160"/>
          </a:xfrm>
          <a:prstGeom prst="rect">
            <a:avLst/>
          </a:prstGeom>
          <a:noFill/>
          <a:ln/>
        </p:spPr>
        <p:txBody>
          <a:bodyPr wrap="square" lIns="0" tIns="0" rIns="0" bIns="0" rtlCol="0" anchor="t"/>
          <a:lstStyle/>
          <a:p>
            <a:pPr indent="0" marL="0">
              <a:buNone/>
            </a:pPr>
            <a:r>
              <a:rPr lang="en-US" sz="1300" dirty="0">
                <a:solidFill>
                  <a:schemeClr val="tx1"/>
                </a:solidFill>
              </a:rPr>
              <a:t>pytest for unit, integration and security tests on real MySQL; Postman for HTTP-level checks.</a:t>
            </a:r>
            <a:endParaRPr lang="en-US" sz="1300" dirty="0"/>
          </a:p>
        </p:txBody>
      </p:sp>
      <p:sp>
        <p:nvSpPr>
          <p:cNvPr id="28" name="stack card 6"/>
          <p:cNvSpPr/>
          <p:nvPr/>
        </p:nvSpPr>
        <p:spPr>
          <a:xfrm>
            <a:off x="8046720" y="3886200"/>
            <a:ext cx="3520440" cy="2286000"/>
          </a:xfrm>
          <a:prstGeom prst="roundRect">
            <a:avLst>
              <a:gd name="adj" fmla="val 3200"/>
            </a:avLst>
          </a:prstGeom>
          <a:solidFill>
            <a:schemeClr val="bg2"/>
          </a:solidFill>
          <a:ln w="12700">
            <a:solidFill>
              <a:schemeClr val="bg2"/>
            </a:solidFill>
            <a:prstDash val="solid"/>
          </a:ln>
        </p:spPr>
      </p:sp>
      <p:sp>
        <p:nvSpPr>
          <p:cNvPr id="29" name="stack icon 6 circle"/>
          <p:cNvSpPr/>
          <p:nvPr/>
        </p:nvSpPr>
        <p:spPr>
          <a:xfrm>
            <a:off x="8275320" y="4114800"/>
            <a:ext cx="548640" cy="548640"/>
          </a:xfrm>
          <a:prstGeom prst="ellipse">
            <a:avLst/>
          </a:prstGeom>
          <a:solidFill>
            <a:schemeClr val="accent1"/>
          </a:solidFill>
          <a:ln w="12700">
            <a:solidFill>
              <a:schemeClr val="accent1"/>
            </a:solidFill>
            <a:prstDash val="solid"/>
          </a:ln>
        </p:spPr>
      </p:sp>
      <p:pic>
        <p:nvPicPr>
          <p:cNvPr id="30" name="stack icon 6" descr="preencoded.png">    </p:cNvPr>
          <p:cNvPicPr>
            <a:picLocks noChangeAspect="1"/>
          </p:cNvPicPr>
          <p:nvPr/>
        </p:nvPicPr>
        <p:blipFill>
          <a:blip r:embed="rId6"/>
          <a:stretch>
            <a:fillRect/>
          </a:stretch>
        </p:blipFill>
        <p:spPr>
          <a:xfrm>
            <a:off x="8406994" y="4246474"/>
            <a:ext cx="285293" cy="285293"/>
          </a:xfrm>
          <a:prstGeom prst="rect">
            <a:avLst/>
          </a:prstGeom>
        </p:spPr>
      </p:pic>
      <p:sp>
        <p:nvSpPr>
          <p:cNvPr id="31" name="Text 23"/>
          <p:cNvSpPr txBox="1"/>
          <p:nvPr/>
        </p:nvSpPr>
        <p:spPr>
          <a:xfrm>
            <a:off x="8961120" y="416052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Git, GitHub, Vercel</a:t>
            </a:r>
            <a:endParaRPr lang="en-US" sz="1600" dirty="0"/>
          </a:p>
        </p:txBody>
      </p:sp>
      <p:sp>
        <p:nvSpPr>
          <p:cNvPr id="32" name="Text 24"/>
          <p:cNvSpPr txBox="1"/>
          <p:nvPr/>
        </p:nvSpPr>
        <p:spPr>
          <a:xfrm>
            <a:off x="8275320" y="4800600"/>
            <a:ext cx="3063240" cy="1280160"/>
          </a:xfrm>
          <a:prstGeom prst="rect">
            <a:avLst/>
          </a:prstGeom>
          <a:noFill/>
          <a:ln/>
        </p:spPr>
        <p:txBody>
          <a:bodyPr wrap="square" lIns="0" tIns="0" rIns="0" bIns="0" rtlCol="0" anchor="t"/>
          <a:lstStyle/>
          <a:p>
            <a:pPr indent="0" marL="0">
              <a:buNone/>
            </a:pPr>
            <a:r>
              <a:rPr lang="en-US" sz="1300" dirty="0">
                <a:solidFill>
                  <a:schemeClr val="tx1"/>
                </a:solidFill>
              </a:rPr>
              <a:t>Version control and pull requests; Vercel hosts Flask free as a serverless function.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Three-tier architecture</a:t>
            </a:r>
            <a:endParaRPr lang="en-US" sz="3400" dirty="0"/>
          </a:p>
        </p:txBody>
      </p:sp>
      <p:sp>
        <p:nvSpPr>
          <p:cNvPr id="3" name="three tier diagram frame"/>
          <p:cNvSpPr/>
          <p:nvPr/>
        </p:nvSpPr>
        <p:spPr>
          <a:xfrm>
            <a:off x="530352" y="1261872"/>
            <a:ext cx="11100816" cy="3044666"/>
          </a:xfrm>
          <a:prstGeom prst="rect">
            <a:avLst/>
          </a:prstGeom>
          <a:solidFill>
            <a:srgbClr val="D6DED9"/>
          </a:solidFill>
          <a:ln w="12700">
            <a:solidFill>
              <a:srgbClr val="D6DED9"/>
            </a:solidFill>
            <a:prstDash val="solid"/>
          </a:ln>
        </p:spPr>
      </p:sp>
      <p:pic>
        <p:nvPicPr>
          <p:cNvPr id="4" name="three tier diagram" descr="three tier diagram">    </p:cNvPr>
          <p:cNvPicPr>
            <a:picLocks noChangeAspect="1"/>
          </p:cNvPicPr>
          <p:nvPr/>
        </p:nvPicPr>
        <p:blipFill>
          <a:blip r:embed="rId1"/>
          <a:stretch>
            <a:fillRect/>
          </a:stretch>
        </p:blipFill>
        <p:spPr>
          <a:xfrm>
            <a:off x="548640" y="1280160"/>
            <a:ext cx="11064240" cy="3008090"/>
          </a:xfrm>
          <a:prstGeom prst="rect">
            <a:avLst/>
          </a:prstGeom>
        </p:spPr>
      </p:pic>
      <p:sp>
        <p:nvSpPr>
          <p:cNvPr id="5" name="layer icon 1 circle"/>
          <p:cNvSpPr/>
          <p:nvPr/>
        </p:nvSpPr>
        <p:spPr>
          <a:xfrm>
            <a:off x="548640" y="4572000"/>
            <a:ext cx="502920" cy="502920"/>
          </a:xfrm>
          <a:prstGeom prst="ellipse">
            <a:avLst/>
          </a:prstGeom>
          <a:solidFill>
            <a:schemeClr val="accent1"/>
          </a:solidFill>
          <a:ln w="12700">
            <a:solidFill>
              <a:schemeClr val="accent1"/>
            </a:solidFill>
            <a:prstDash val="solid"/>
          </a:ln>
        </p:spPr>
      </p:sp>
      <p:pic>
        <p:nvPicPr>
          <p:cNvPr id="6" name="layer icon 1" descr="preencoded.png">    </p:cNvPr>
          <p:cNvPicPr>
            <a:picLocks noChangeAspect="1"/>
          </p:cNvPicPr>
          <p:nvPr/>
        </p:nvPicPr>
        <p:blipFill>
          <a:blip r:embed="rId2"/>
          <a:stretch>
            <a:fillRect/>
          </a:stretch>
        </p:blipFill>
        <p:spPr>
          <a:xfrm>
            <a:off x="669341" y="4692701"/>
            <a:ext cx="261518" cy="261518"/>
          </a:xfrm>
          <a:prstGeom prst="rect">
            <a:avLst/>
          </a:prstGeom>
        </p:spPr>
      </p:pic>
      <p:sp>
        <p:nvSpPr>
          <p:cNvPr id="7" name="Text 3"/>
          <p:cNvSpPr txBox="1"/>
          <p:nvPr/>
        </p:nvSpPr>
        <p:spPr>
          <a:xfrm>
            <a:off x="1234440" y="4572000"/>
            <a:ext cx="2834640" cy="365760"/>
          </a:xfrm>
          <a:prstGeom prst="rect">
            <a:avLst/>
          </a:prstGeom>
          <a:noFill/>
          <a:ln/>
        </p:spPr>
        <p:txBody>
          <a:bodyPr wrap="square" lIns="0" tIns="0" rIns="0" bIns="0" rtlCol="0" anchor="t"/>
          <a:lstStyle/>
          <a:p>
            <a:pPr indent="0" marL="0">
              <a:buNone/>
            </a:pPr>
            <a:r>
              <a:rPr lang="en-US" sz="1600" b="1" dirty="0">
                <a:solidFill>
                  <a:schemeClr val="tx1"/>
                </a:solidFill>
              </a:rPr>
              <a:t>Presentation</a:t>
            </a:r>
            <a:endParaRPr lang="en-US" sz="1600" dirty="0"/>
          </a:p>
        </p:txBody>
      </p:sp>
      <p:sp>
        <p:nvSpPr>
          <p:cNvPr id="8" name="Text 4"/>
          <p:cNvSpPr txBox="1"/>
          <p:nvPr/>
        </p:nvSpPr>
        <p:spPr>
          <a:xfrm>
            <a:off x="1234440" y="4956048"/>
            <a:ext cx="2834640" cy="1097280"/>
          </a:xfrm>
          <a:prstGeom prst="rect">
            <a:avLst/>
          </a:prstGeom>
          <a:noFill/>
          <a:ln/>
        </p:spPr>
        <p:txBody>
          <a:bodyPr wrap="square" lIns="0" tIns="0" rIns="0" bIns="0" rtlCol="0" anchor="t"/>
          <a:lstStyle/>
          <a:p>
            <a:pPr indent="0" marL="0">
              <a:buNone/>
            </a:pPr>
            <a:r>
              <a:rPr lang="en-US" sz="1300" dirty="0">
                <a:solidFill>
                  <a:schemeClr val="accent4"/>
                </a:solidFill>
              </a:rPr>
              <a:t>4 role pages call the API with fetch() and escape all server data before display</a:t>
            </a:r>
            <a:endParaRPr lang="en-US" sz="1300" dirty="0"/>
          </a:p>
        </p:txBody>
      </p:sp>
      <p:sp>
        <p:nvSpPr>
          <p:cNvPr id="9" name="layer icon 2 circle"/>
          <p:cNvSpPr/>
          <p:nvPr/>
        </p:nvSpPr>
        <p:spPr>
          <a:xfrm>
            <a:off x="4297680" y="4572000"/>
            <a:ext cx="502920" cy="502920"/>
          </a:xfrm>
          <a:prstGeom prst="ellipse">
            <a:avLst/>
          </a:prstGeom>
          <a:solidFill>
            <a:schemeClr val="accent1"/>
          </a:solidFill>
          <a:ln w="12700">
            <a:solidFill>
              <a:schemeClr val="accent1"/>
            </a:solidFill>
            <a:prstDash val="solid"/>
          </a:ln>
        </p:spPr>
      </p:sp>
      <p:pic>
        <p:nvPicPr>
          <p:cNvPr id="10" name="layer icon 2" descr="preencoded.png">    </p:cNvPr>
          <p:cNvPicPr>
            <a:picLocks noChangeAspect="1"/>
          </p:cNvPicPr>
          <p:nvPr/>
        </p:nvPicPr>
        <p:blipFill>
          <a:blip r:embed="rId3"/>
          <a:stretch>
            <a:fillRect/>
          </a:stretch>
        </p:blipFill>
        <p:spPr>
          <a:xfrm>
            <a:off x="4418381" y="4692701"/>
            <a:ext cx="261518" cy="261518"/>
          </a:xfrm>
          <a:prstGeom prst="rect">
            <a:avLst/>
          </a:prstGeom>
        </p:spPr>
      </p:pic>
      <p:sp>
        <p:nvSpPr>
          <p:cNvPr id="11" name="Text 6"/>
          <p:cNvSpPr txBox="1"/>
          <p:nvPr/>
        </p:nvSpPr>
        <p:spPr>
          <a:xfrm>
            <a:off x="4983480" y="4572000"/>
            <a:ext cx="2834640" cy="365760"/>
          </a:xfrm>
          <a:prstGeom prst="rect">
            <a:avLst/>
          </a:prstGeom>
          <a:noFill/>
          <a:ln/>
        </p:spPr>
        <p:txBody>
          <a:bodyPr wrap="square" lIns="0" tIns="0" rIns="0" bIns="0" rtlCol="0" anchor="t"/>
          <a:lstStyle/>
          <a:p>
            <a:pPr indent="0" marL="0">
              <a:buNone/>
            </a:pPr>
            <a:r>
              <a:rPr lang="en-US" sz="1600" b="1" dirty="0">
                <a:solidFill>
                  <a:schemeClr val="tx1"/>
                </a:solidFill>
              </a:rPr>
              <a:t>Application</a:t>
            </a:r>
            <a:endParaRPr lang="en-US" sz="1600" dirty="0"/>
          </a:p>
        </p:txBody>
      </p:sp>
      <p:sp>
        <p:nvSpPr>
          <p:cNvPr id="12" name="Text 7"/>
          <p:cNvSpPr txBox="1"/>
          <p:nvPr/>
        </p:nvSpPr>
        <p:spPr>
          <a:xfrm>
            <a:off x="4983480" y="4956048"/>
            <a:ext cx="2834640" cy="1097280"/>
          </a:xfrm>
          <a:prstGeom prst="rect">
            <a:avLst/>
          </a:prstGeom>
          <a:noFill/>
          <a:ln/>
        </p:spPr>
        <p:txBody>
          <a:bodyPr wrap="square" lIns="0" tIns="0" rIns="0" bIns="0" rtlCol="0" anchor="t"/>
          <a:lstStyle/>
          <a:p>
            <a:pPr indent="0" marL="0">
              <a:buNone/>
            </a:pPr>
            <a:r>
              <a:rPr lang="en-US" sz="1300" dirty="0">
                <a:solidFill>
                  <a:schemeClr val="accent4"/>
                </a:solidFill>
              </a:rPr>
              <a:t>Flask checks login, role and ownership on every request, validates input, writes the audit log</a:t>
            </a:r>
            <a:endParaRPr lang="en-US" sz="1300" dirty="0"/>
          </a:p>
        </p:txBody>
      </p:sp>
      <p:sp>
        <p:nvSpPr>
          <p:cNvPr id="13" name="layer icon 3 circle"/>
          <p:cNvSpPr/>
          <p:nvPr/>
        </p:nvSpPr>
        <p:spPr>
          <a:xfrm>
            <a:off x="8046720" y="4572000"/>
            <a:ext cx="502920" cy="502920"/>
          </a:xfrm>
          <a:prstGeom prst="ellipse">
            <a:avLst/>
          </a:prstGeom>
          <a:solidFill>
            <a:schemeClr val="accent1"/>
          </a:solidFill>
          <a:ln w="12700">
            <a:solidFill>
              <a:schemeClr val="accent1"/>
            </a:solidFill>
            <a:prstDash val="solid"/>
          </a:ln>
        </p:spPr>
      </p:sp>
      <p:pic>
        <p:nvPicPr>
          <p:cNvPr id="14" name="layer icon 3" descr="preencoded.png">    </p:cNvPr>
          <p:cNvPicPr>
            <a:picLocks noChangeAspect="1"/>
          </p:cNvPicPr>
          <p:nvPr/>
        </p:nvPicPr>
        <p:blipFill>
          <a:blip r:embed="rId4"/>
          <a:stretch>
            <a:fillRect/>
          </a:stretch>
        </p:blipFill>
        <p:spPr>
          <a:xfrm>
            <a:off x="8167421" y="4692701"/>
            <a:ext cx="261518" cy="261518"/>
          </a:xfrm>
          <a:prstGeom prst="rect">
            <a:avLst/>
          </a:prstGeom>
        </p:spPr>
      </p:pic>
      <p:sp>
        <p:nvSpPr>
          <p:cNvPr id="15" name="Text 9"/>
          <p:cNvSpPr txBox="1"/>
          <p:nvPr/>
        </p:nvSpPr>
        <p:spPr>
          <a:xfrm>
            <a:off x="8732520" y="4572000"/>
            <a:ext cx="2834640" cy="365760"/>
          </a:xfrm>
          <a:prstGeom prst="rect">
            <a:avLst/>
          </a:prstGeom>
          <a:noFill/>
          <a:ln/>
        </p:spPr>
        <p:txBody>
          <a:bodyPr wrap="square" lIns="0" tIns="0" rIns="0" bIns="0" rtlCol="0" anchor="t"/>
          <a:lstStyle/>
          <a:p>
            <a:pPr indent="0" marL="0">
              <a:buNone/>
            </a:pPr>
            <a:r>
              <a:rPr lang="en-US" sz="1600" b="1" dirty="0">
                <a:solidFill>
                  <a:schemeClr val="tx1"/>
                </a:solidFill>
              </a:rPr>
              <a:t>Data</a:t>
            </a:r>
            <a:endParaRPr lang="en-US" sz="1600" dirty="0"/>
          </a:p>
        </p:txBody>
      </p:sp>
      <p:sp>
        <p:nvSpPr>
          <p:cNvPr id="16" name="Text 10"/>
          <p:cNvSpPr txBox="1"/>
          <p:nvPr/>
        </p:nvSpPr>
        <p:spPr>
          <a:xfrm>
            <a:off x="8732520" y="4956048"/>
            <a:ext cx="2834640" cy="1097280"/>
          </a:xfrm>
          <a:prstGeom prst="rect">
            <a:avLst/>
          </a:prstGeom>
          <a:noFill/>
          <a:ln/>
        </p:spPr>
        <p:txBody>
          <a:bodyPr wrap="square" lIns="0" tIns="0" rIns="0" bIns="0" rtlCol="0" anchor="t"/>
          <a:lstStyle/>
          <a:p>
            <a:pPr indent="0" marL="0">
              <a:buNone/>
            </a:pPr>
            <a:r>
              <a:rPr lang="en-US" sz="1300" dirty="0">
                <a:solidFill>
                  <a:schemeClr val="accent4"/>
                </a:solidFill>
              </a:rPr>
              <a:t>MySQL is reached only by the API, with parameterised SQL and transactions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Database design: 12 tables</a:t>
            </a:r>
            <a:endParaRPr lang="en-US" sz="3400" dirty="0"/>
          </a:p>
        </p:txBody>
      </p:sp>
      <p:sp>
        <p:nvSpPr>
          <p:cNvPr id="3" name="ERD frame"/>
          <p:cNvSpPr/>
          <p:nvPr/>
        </p:nvSpPr>
        <p:spPr>
          <a:xfrm>
            <a:off x="530352" y="1216152"/>
            <a:ext cx="7900416" cy="4799114"/>
          </a:xfrm>
          <a:prstGeom prst="rect">
            <a:avLst/>
          </a:prstGeom>
          <a:solidFill>
            <a:srgbClr val="D6DED9"/>
          </a:solidFill>
          <a:ln w="12700">
            <a:solidFill>
              <a:srgbClr val="D6DED9"/>
            </a:solidFill>
            <a:prstDash val="solid"/>
          </a:ln>
        </p:spPr>
      </p:sp>
      <p:pic>
        <p:nvPicPr>
          <p:cNvPr id="4" name="ERD" descr="ERD">    </p:cNvPr>
          <p:cNvPicPr>
            <a:picLocks noChangeAspect="1"/>
          </p:cNvPicPr>
          <p:nvPr/>
        </p:nvPicPr>
        <p:blipFill>
          <a:blip r:embed="rId1"/>
          <a:stretch>
            <a:fillRect/>
          </a:stretch>
        </p:blipFill>
        <p:spPr>
          <a:xfrm>
            <a:off x="548640" y="1234440"/>
            <a:ext cx="7863840" cy="4762538"/>
          </a:xfrm>
          <a:prstGeom prst="rect">
            <a:avLst/>
          </a:prstGeom>
        </p:spPr>
      </p:pic>
      <p:sp>
        <p:nvSpPr>
          <p:cNvPr id="5" name="Text 2"/>
          <p:cNvSpPr txBox="1"/>
          <p:nvPr/>
        </p:nvSpPr>
        <p:spPr>
          <a:xfrm>
            <a:off x="8778240" y="1234440"/>
            <a:ext cx="2834640" cy="365760"/>
          </a:xfrm>
          <a:prstGeom prst="rect">
            <a:avLst/>
          </a:prstGeom>
          <a:noFill/>
          <a:ln/>
        </p:spPr>
        <p:txBody>
          <a:bodyPr wrap="square" lIns="0" tIns="0" rIns="0" bIns="0" rtlCol="0" anchor="t"/>
          <a:lstStyle/>
          <a:p>
            <a:pPr indent="0" marL="0">
              <a:buNone/>
            </a:pPr>
            <a:r>
              <a:rPr lang="en-US" sz="1800" b="1" dirty="0">
                <a:solidFill>
                  <a:schemeClr val="tx2"/>
                </a:solidFill>
              </a:rPr>
              <a:t>Keys and constraints</a:t>
            </a:r>
            <a:endParaRPr lang="en-US" sz="1800" dirty="0"/>
          </a:p>
        </p:txBody>
      </p:sp>
      <p:sp>
        <p:nvSpPr>
          <p:cNvPr id="6" name="Text 3"/>
          <p:cNvSpPr txBox="1"/>
          <p:nvPr/>
        </p:nvSpPr>
        <p:spPr>
          <a:xfrm>
            <a:off x="8778240" y="1691640"/>
            <a:ext cx="2834640" cy="2651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Patient, Doctor, Pharmacist are 1:1 with User via a unique user_id</a:t>
            </a:r>
            <a:endParaRPr lang="en-US" sz="1300" dirty="0"/>
          </a:p>
          <a:p>
            <a:pPr marL="342900" indent="-342900">
              <a:spcAft>
                <a:spcPts val="500"/>
              </a:spcAft>
              <a:buSzPct val="100000"/>
              <a:buChar char="•"/>
            </a:pPr>
            <a:r>
              <a:rPr lang="en-US" sz="1300" dirty="0">
                <a:solidFill>
                  <a:schemeClr val="tx1"/>
                </a:solidFill>
              </a:rPr>
              <a:t>Prescription code is UNIQUE</a:t>
            </a:r>
            <a:endParaRPr lang="en-US" sz="1300" dirty="0"/>
          </a:p>
          <a:p>
            <a:pPr marL="342900" indent="-342900">
              <a:spcAft>
                <a:spcPts val="500"/>
              </a:spcAft>
              <a:buSzPct val="100000"/>
              <a:buChar char="•"/>
            </a:pPr>
            <a:r>
              <a:rPr lang="en-US" sz="1300" dirty="0">
                <a:solidFill>
                  <a:schemeClr val="tx1"/>
                </a:solidFill>
              </a:rPr>
              <a:t>CHECK quantity &gt;= 0 and price_kes &gt; 0 on stock</a:t>
            </a:r>
            <a:endParaRPr lang="en-US" sz="1300" dirty="0"/>
          </a:p>
          <a:p>
            <a:pPr marL="342900" indent="-342900">
              <a:spcAft>
                <a:spcPts val="500"/>
              </a:spcAft>
              <a:buSzPct val="100000"/>
              <a:buChar char="•"/>
            </a:pPr>
            <a:r>
              <a:rPr lang="en-US" sz="1300" dirty="0">
                <a:solidFill>
                  <a:schemeClr val="tx1"/>
                </a:solidFill>
              </a:rPr>
              <a:t>UNIQUE (pharmacy, medicine) stock line</a:t>
            </a:r>
            <a:endParaRPr lang="en-US" sz="1300" dirty="0"/>
          </a:p>
          <a:p>
            <a:pPr marL="342900" indent="-342900">
              <a:spcAft>
                <a:spcPts val="500"/>
              </a:spcAft>
              <a:buSzPct val="100000"/>
              <a:buChar char="•"/>
            </a:pPr>
            <a:r>
              <a:rPr lang="en-US" sz="1300" dirty="0">
                <a:solidFill>
                  <a:schemeClr val="tx1"/>
                </a:solidFill>
              </a:rPr>
              <a:t>Indexes on generic name and on grant lookups</a:t>
            </a:r>
            <a:endParaRPr lang="en-US" sz="1300" dirty="0"/>
          </a:p>
        </p:txBody>
      </p:sp>
      <p:sp>
        <p:nvSpPr>
          <p:cNvPr id="7" name="changes card"/>
          <p:cNvSpPr/>
          <p:nvPr/>
        </p:nvSpPr>
        <p:spPr>
          <a:xfrm>
            <a:off x="8778240" y="4434840"/>
            <a:ext cx="2834640" cy="1737360"/>
          </a:xfrm>
          <a:prstGeom prst="roundRect">
            <a:avLst>
              <a:gd name="adj" fmla="val 4211"/>
            </a:avLst>
          </a:prstGeom>
          <a:solidFill>
            <a:schemeClr val="bg2"/>
          </a:solidFill>
          <a:ln w="12700">
            <a:solidFill>
              <a:schemeClr val="bg2"/>
            </a:solidFill>
            <a:prstDash val="solid"/>
          </a:ln>
        </p:spPr>
      </p:sp>
      <p:sp>
        <p:nvSpPr>
          <p:cNvPr id="8" name="Text 5"/>
          <p:cNvSpPr txBox="1"/>
          <p:nvPr/>
        </p:nvSpPr>
        <p:spPr>
          <a:xfrm>
            <a:off x="8961120" y="4553712"/>
            <a:ext cx="2514600" cy="1554480"/>
          </a:xfrm>
          <a:prstGeom prst="rect">
            <a:avLst/>
          </a:prstGeom>
          <a:noFill/>
          <a:ln/>
        </p:spPr>
        <p:txBody>
          <a:bodyPr wrap="square" lIns="0" tIns="0" rIns="0" bIns="0" rtlCol="0" anchor="t"/>
          <a:lstStyle/>
          <a:p>
            <a:pPr indent="0" marL="0">
              <a:buNone/>
            </a:pPr>
            <a:r>
              <a:rPr lang="en-US" sz="1200" b="1" dirty="0">
                <a:solidFill>
                  <a:schemeClr val="tx2"/>
                </a:solidFill>
              </a:rPr>
              <a:t>Changed from proposal</a:t>
            </a:r>
            <a:endParaRPr lang="en-US" sz="1200" dirty="0"/>
          </a:p>
          <a:p>
            <a:pPr indent="0" marL="0">
              <a:buNone/>
            </a:pPr>
            <a:r>
              <a:rPr lang="en-US" sz="1200" dirty="0">
                <a:solidFill>
                  <a:schemeClr val="tx1"/>
                </a:solidFill>
              </a:rPr>
              <a:t>Reservation replaced by notifications; added password hash, coordinates, generic name, revoked_at; 'update' column renamed (MySQL reserved word); prices in KES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Core logic: codes and single-use dispensing</a:t>
            </a:r>
            <a:endParaRPr lang="en-US" sz="3400" dirty="0"/>
          </a:p>
        </p:txBody>
      </p:sp>
      <p:sp>
        <p:nvSpPr>
          <p:cNvPr id="3" name="Text 1"/>
          <p:cNvSpPr txBox="1"/>
          <p:nvPr/>
        </p:nvSpPr>
        <p:spPr>
          <a:xfrm>
            <a:off x="548640" y="1234440"/>
            <a:ext cx="5120640" cy="365760"/>
          </a:xfrm>
          <a:prstGeom prst="rect">
            <a:avLst/>
          </a:prstGeom>
          <a:noFill/>
          <a:ln/>
        </p:spPr>
        <p:txBody>
          <a:bodyPr wrap="square" lIns="0" tIns="0" rIns="0" bIns="0" rtlCol="0" anchor="t"/>
          <a:lstStyle/>
          <a:p>
            <a:pPr indent="0" marL="0">
              <a:buNone/>
            </a:pPr>
            <a:r>
              <a:rPr lang="en-US" sz="1600" b="1" dirty="0">
                <a:solidFill>
                  <a:schemeClr val="tx2"/>
                </a:solidFill>
              </a:rPr>
              <a:t>Unguessable prescription codes  (rx.py)</a:t>
            </a:r>
            <a:endParaRPr lang="en-US" sz="1600" dirty="0"/>
          </a:p>
        </p:txBody>
      </p:sp>
      <p:sp>
        <p:nvSpPr>
          <p:cNvPr id="4" name="code snippet 1 panel"/>
          <p:cNvSpPr/>
          <p:nvPr/>
        </p:nvSpPr>
        <p:spPr>
          <a:xfrm>
            <a:off x="548640" y="1645920"/>
            <a:ext cx="5120640" cy="2057400"/>
          </a:xfrm>
          <a:prstGeom prst="roundRect">
            <a:avLst>
              <a:gd name="adj" fmla="val 2667"/>
            </a:avLst>
          </a:prstGeom>
          <a:solidFill>
            <a:srgbClr val="13211E"/>
          </a:solidFill>
          <a:ln w="12700">
            <a:solidFill>
              <a:srgbClr val="13211E"/>
            </a:solidFill>
            <a:prstDash val="solid"/>
          </a:ln>
        </p:spPr>
      </p:sp>
      <p:sp>
        <p:nvSpPr>
          <p:cNvPr id="5" name="code snippet 1"/>
          <p:cNvSpPr txBox="1"/>
          <p:nvPr/>
        </p:nvSpPr>
        <p:spPr>
          <a:xfrm>
            <a:off x="731520" y="1783080"/>
            <a:ext cx="4754880" cy="1783080"/>
          </a:xfrm>
          <a:prstGeom prst="rect">
            <a:avLst/>
          </a:prstGeom>
          <a:noFill/>
          <a:ln/>
        </p:spPr>
        <p:txBody>
          <a:bodyPr wrap="square" lIns="0" tIns="0" rIns="0" bIns="0" rtlCol="0" anchor="t"/>
          <a:lstStyle/>
          <a:p>
            <a:pPr indent="0" marL="0">
              <a:buNone/>
            </a:pPr>
            <a:r>
              <a:rPr lang="en-US" sz="1200" dirty="0">
                <a:solidFill>
                  <a:srgbClr val="E3EFEB"/>
                </a:solidFill>
                <a:latin typeface="Courier New" pitchFamily="34" charset="0"/>
                <a:ea typeface="Courier New" pitchFamily="34" charset="-122"/>
                <a:cs typeface="Courier New" pitchFamily="34" charset="-120"/>
              </a:rPr>
              <a:t># No 0/O, 1/I/L, so codes are read</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correctly at the counter</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CODE_ALPHABET = "ABCDEFGHJKMNPQRSTUVWXYZ23456789"</a:t>
            </a:r>
            <a:endParaRPr lang="en-US" sz="1200" dirty="0"/>
          </a:p>
          <a:p>
            <a:pPr indent="0" marL="0">
              <a:buNone/>
            </a:pP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def generate_code():</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raw = "".join(secrets.choice(CODE_ALPHABET)</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for _ in range(8))</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return f"{raw[:4]}-{raw[4:]}"</a:t>
            </a:r>
            <a:endParaRPr lang="en-US" sz="1200" dirty="0"/>
          </a:p>
        </p:txBody>
      </p:sp>
      <p:sp>
        <p:nvSpPr>
          <p:cNvPr id="6" name="Text 4"/>
          <p:cNvSpPr txBox="1"/>
          <p:nvPr/>
        </p:nvSpPr>
        <p:spPr>
          <a:xfrm>
            <a:off x="548640" y="3931920"/>
            <a:ext cx="512064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31⁸ ≈ 850 billion possible codes, from a cryptographic random source</a:t>
            </a:r>
            <a:endParaRPr lang="en-US" sz="1400" dirty="0"/>
          </a:p>
          <a:p>
            <a:pPr marL="342900" indent="-342900">
              <a:spcAft>
                <a:spcPts val="400"/>
              </a:spcAft>
              <a:buSzPct val="100000"/>
              <a:buChar char="•"/>
            </a:pPr>
            <a:r>
              <a:rPr lang="en-US" sz="1400" dirty="0">
                <a:solidFill>
                  <a:schemeClr val="tx1"/>
                </a:solidFill>
              </a:rPr>
              <a:t>UNIQUE in MySQL; on the rare clash the API retries</a:t>
            </a:r>
            <a:endParaRPr lang="en-US" sz="1400" dirty="0"/>
          </a:p>
          <a:p>
            <a:pPr marL="342900" indent="-342900">
              <a:spcAft>
                <a:spcPts val="400"/>
              </a:spcAft>
              <a:buSzPct val="100000"/>
              <a:buChar char="•"/>
            </a:pPr>
            <a:r>
              <a:rPr lang="en-US" sz="1400" dirty="0">
                <a:solidFill>
                  <a:schemeClr val="tx1"/>
                </a:solidFill>
              </a:rPr>
              <a:t>10 wrong codes in 15 minutes locks the pharmacist out (429)</a:t>
            </a:r>
            <a:endParaRPr lang="en-US" sz="1400" dirty="0"/>
          </a:p>
        </p:txBody>
      </p:sp>
      <p:sp>
        <p:nvSpPr>
          <p:cNvPr id="7" name="Text 5"/>
          <p:cNvSpPr txBox="1"/>
          <p:nvPr/>
        </p:nvSpPr>
        <p:spPr>
          <a:xfrm>
            <a:off x="6035040" y="1234440"/>
            <a:ext cx="5577840" cy="365760"/>
          </a:xfrm>
          <a:prstGeom prst="rect">
            <a:avLst/>
          </a:prstGeom>
          <a:noFill/>
          <a:ln/>
        </p:spPr>
        <p:txBody>
          <a:bodyPr wrap="square" lIns="0" tIns="0" rIns="0" bIns="0" rtlCol="0" anchor="t"/>
          <a:lstStyle/>
          <a:p>
            <a:pPr indent="0" marL="0">
              <a:buNone/>
            </a:pPr>
            <a:r>
              <a:rPr lang="en-US" sz="1600" b="1" dirty="0">
                <a:solidFill>
                  <a:schemeClr val="tx2"/>
                </a:solidFill>
              </a:rPr>
              <a:t>Dispensing in one transaction  (routes/pharmacy.py, abridged)</a:t>
            </a:r>
            <a:endParaRPr lang="en-US" sz="1600" dirty="0"/>
          </a:p>
        </p:txBody>
      </p:sp>
      <p:sp>
        <p:nvSpPr>
          <p:cNvPr id="8" name="code snippet 2 panel"/>
          <p:cNvSpPr/>
          <p:nvPr/>
        </p:nvSpPr>
        <p:spPr>
          <a:xfrm>
            <a:off x="6035040" y="1645920"/>
            <a:ext cx="5577840" cy="3429000"/>
          </a:xfrm>
          <a:prstGeom prst="roundRect">
            <a:avLst>
              <a:gd name="adj" fmla="val 1600"/>
            </a:avLst>
          </a:prstGeom>
          <a:solidFill>
            <a:srgbClr val="13211E"/>
          </a:solidFill>
          <a:ln w="12700">
            <a:solidFill>
              <a:srgbClr val="13211E"/>
            </a:solidFill>
            <a:prstDash val="solid"/>
          </a:ln>
        </p:spPr>
      </p:sp>
      <p:sp>
        <p:nvSpPr>
          <p:cNvPr id="9" name="code snippet 2"/>
          <p:cNvSpPr txBox="1"/>
          <p:nvPr/>
        </p:nvSpPr>
        <p:spPr>
          <a:xfrm>
            <a:off x="6217920" y="1783080"/>
            <a:ext cx="5212080" cy="3154680"/>
          </a:xfrm>
          <a:prstGeom prst="rect">
            <a:avLst/>
          </a:prstGeom>
          <a:noFill/>
          <a:ln/>
        </p:spPr>
        <p:txBody>
          <a:bodyPr wrap="square" lIns="0" tIns="0" rIns="0" bIns="0" rtlCol="0" anchor="t"/>
          <a:lstStyle/>
          <a:p>
            <a:pPr indent="0" marL="0">
              <a:buNone/>
            </a:pPr>
            <a:r>
              <a:rPr lang="en-US" sz="1200" dirty="0">
                <a:solidFill>
                  <a:srgbClr val="E3EFEB"/>
                </a:solidFill>
                <a:latin typeface="Courier New" pitchFamily="34" charset="0"/>
                <a:ea typeface="Courier New" pitchFamily="34" charset="-122"/>
                <a:cs typeface="Courier New" pitchFamily="34" charset="-120"/>
              </a:rPr>
              <a:t>rx = query_one("SELECT ... FROM prescriptions"</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 WHERE code=%s FOR UPDATE", (code,))</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check grant, status, expiry, stock for all items</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for i in items:</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cur.execute("UPDATE item_stock SET quantity ="</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 quantity - %s WHERE stock_id=%s"</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 AND quantity &gt;= %s", (...))</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cur.execute("UPDATE prescriptions SET status='filled'"</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 WHERE prescription_id=%s"</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 AND status='active'", (...))</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if cur.rowcount != 1:</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raise ApiError("Already filled", 409)</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log_action(...); notify(...); conn.commit()</a:t>
            </a:r>
            <a:endParaRPr lang="en-US" sz="1200" dirty="0"/>
          </a:p>
        </p:txBody>
      </p:sp>
      <p:sp>
        <p:nvSpPr>
          <p:cNvPr id="10" name="Text 8"/>
          <p:cNvSpPr txBox="1"/>
          <p:nvPr/>
        </p:nvSpPr>
        <p:spPr>
          <a:xfrm>
            <a:off x="6035040" y="5212080"/>
            <a:ext cx="5577840" cy="365760"/>
          </a:xfrm>
          <a:prstGeom prst="rect">
            <a:avLst/>
          </a:prstGeom>
          <a:noFill/>
          <a:ln/>
        </p:spPr>
        <p:txBody>
          <a:bodyPr wrap="square" lIns="0" tIns="0" rIns="0" bIns="0" rtlCol="0" anchor="t"/>
          <a:lstStyle/>
          <a:p>
            <a:pPr indent="0" marL="0">
              <a:buNone/>
            </a:pPr>
            <a:r>
              <a:rPr lang="en-US" sz="1400" dirty="0">
                <a:solidFill>
                  <a:schemeClr val="accent4"/>
                </a:solidFill>
              </a:rPr>
              <a:t>Row locks and conditional updates: if anything fails, nothing changes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Search, ranking and the map</a:t>
            </a:r>
            <a:endParaRPr lang="en-US" sz="3400" dirty="0"/>
          </a:p>
        </p:txBody>
      </p:sp>
      <p:sp>
        <p:nvSpPr>
          <p:cNvPr id="3" name="ranking screenshot frame"/>
          <p:cNvSpPr/>
          <p:nvPr/>
        </p:nvSpPr>
        <p:spPr>
          <a:xfrm>
            <a:off x="530352" y="1216152"/>
            <a:ext cx="2871216" cy="4661165"/>
          </a:xfrm>
          <a:prstGeom prst="rect">
            <a:avLst/>
          </a:prstGeom>
          <a:solidFill>
            <a:srgbClr val="D6DED9"/>
          </a:solidFill>
          <a:ln w="12700">
            <a:solidFill>
              <a:srgbClr val="D6DED9"/>
            </a:solidFill>
            <a:prstDash val="solid"/>
          </a:ln>
        </p:spPr>
      </p:sp>
      <p:pic>
        <p:nvPicPr>
          <p:cNvPr id="4" name="ranking screenshot" descr="ranking screenshot">    </p:cNvPr>
          <p:cNvPicPr>
            <a:picLocks noChangeAspect="1"/>
          </p:cNvPicPr>
          <p:nvPr/>
        </p:nvPicPr>
        <p:blipFill>
          <a:blip r:embed="rId1"/>
          <a:stretch>
            <a:fillRect/>
          </a:stretch>
        </p:blipFill>
        <p:spPr>
          <a:xfrm>
            <a:off x="548640" y="1234440"/>
            <a:ext cx="2834640" cy="4624589"/>
          </a:xfrm>
          <a:prstGeom prst="rect">
            <a:avLst/>
          </a:prstGeom>
        </p:spPr>
      </p:pic>
      <p:sp>
        <p:nvSpPr>
          <p:cNvPr id="5" name="Text 2"/>
          <p:cNvSpPr txBox="1"/>
          <p:nvPr/>
        </p:nvSpPr>
        <p:spPr>
          <a:xfrm>
            <a:off x="548640" y="5943600"/>
            <a:ext cx="2834640" cy="274320"/>
          </a:xfrm>
          <a:prstGeom prst="rect">
            <a:avLst/>
          </a:prstGeom>
          <a:noFill/>
          <a:ln/>
        </p:spPr>
        <p:txBody>
          <a:bodyPr wrap="square" lIns="0" tIns="0" rIns="0" bIns="0" rtlCol="0" anchor="t"/>
          <a:lstStyle/>
          <a:p>
            <a:pPr indent="0" marL="0">
              <a:buNone/>
            </a:pPr>
            <a:r>
              <a:rPr lang="en-US" sz="1100" dirty="0">
                <a:solidFill>
                  <a:schemeClr val="accent4"/>
                </a:solidFill>
              </a:rPr>
              <a:t>Real ranking from the app (synthetic data)</a:t>
            </a:r>
            <a:endParaRPr lang="en-US" sz="1100" dirty="0"/>
          </a:p>
        </p:txBody>
      </p:sp>
      <p:sp>
        <p:nvSpPr>
          <p:cNvPr id="6" name="step 1"/>
          <p:cNvSpPr/>
          <p:nvPr/>
        </p:nvSpPr>
        <p:spPr>
          <a:xfrm>
            <a:off x="4114800" y="123444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41148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4754880" y="1216152"/>
            <a:ext cx="6858000" cy="320040"/>
          </a:xfrm>
          <a:prstGeom prst="rect">
            <a:avLst/>
          </a:prstGeom>
          <a:noFill/>
          <a:ln/>
        </p:spPr>
        <p:txBody>
          <a:bodyPr wrap="square" lIns="0" tIns="0" rIns="0" bIns="0" rtlCol="0" anchor="t"/>
          <a:lstStyle/>
          <a:p>
            <a:pPr indent="0" marL="0">
              <a:buNone/>
            </a:pPr>
            <a:r>
              <a:rPr lang="en-US" sz="1600" b="1" dirty="0">
                <a:solidFill>
                  <a:schemeClr val="tx1"/>
                </a:solidFill>
              </a:rPr>
              <a:t>Distance</a:t>
            </a:r>
            <a:endParaRPr lang="en-US" sz="1600" dirty="0"/>
          </a:p>
        </p:txBody>
      </p:sp>
      <p:sp>
        <p:nvSpPr>
          <p:cNvPr id="9" name="Text 6"/>
          <p:cNvSpPr txBox="1"/>
          <p:nvPr/>
        </p:nvSpPr>
        <p:spPr>
          <a:xfrm>
            <a:off x="4754880" y="1536192"/>
            <a:ext cx="6858000" cy="548640"/>
          </a:xfrm>
          <a:prstGeom prst="rect">
            <a:avLst/>
          </a:prstGeom>
          <a:noFill/>
          <a:ln/>
        </p:spPr>
        <p:txBody>
          <a:bodyPr wrap="square" lIns="0" tIns="0" rIns="0" bIns="0" rtlCol="0" anchor="t"/>
          <a:lstStyle/>
          <a:p>
            <a:pPr indent="0" marL="0">
              <a:buNone/>
            </a:pPr>
            <a:r>
              <a:rPr lang="en-US" sz="1300" dirty="0">
                <a:solidFill>
                  <a:schemeClr val="accent4"/>
                </a:solidFill>
              </a:rPr>
              <a:t>Haversine great-circle distance from the patient (browser location, or Eldoret CBD in the demo) to each pharmacy</a:t>
            </a:r>
            <a:endParaRPr lang="en-US" sz="1300" dirty="0"/>
          </a:p>
        </p:txBody>
      </p:sp>
      <p:sp>
        <p:nvSpPr>
          <p:cNvPr id="10" name="step 2"/>
          <p:cNvSpPr/>
          <p:nvPr/>
        </p:nvSpPr>
        <p:spPr>
          <a:xfrm>
            <a:off x="4114800" y="2194560"/>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411480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754880" y="2176272"/>
            <a:ext cx="6858000" cy="320040"/>
          </a:xfrm>
          <a:prstGeom prst="rect">
            <a:avLst/>
          </a:prstGeom>
          <a:noFill/>
          <a:ln/>
        </p:spPr>
        <p:txBody>
          <a:bodyPr wrap="square" lIns="0" tIns="0" rIns="0" bIns="0" rtlCol="0" anchor="t"/>
          <a:lstStyle/>
          <a:p>
            <a:pPr indent="0" marL="0">
              <a:buNone/>
            </a:pPr>
            <a:r>
              <a:rPr lang="en-US" sz="1600" b="1" dirty="0">
                <a:solidFill>
                  <a:schemeClr val="tx1"/>
                </a:solidFill>
              </a:rPr>
              <a:t>Coverage</a:t>
            </a:r>
            <a:endParaRPr lang="en-US" sz="1600" dirty="0"/>
          </a:p>
        </p:txBody>
      </p:sp>
      <p:sp>
        <p:nvSpPr>
          <p:cNvPr id="13" name="Text 10"/>
          <p:cNvSpPr txBox="1"/>
          <p:nvPr/>
        </p:nvSpPr>
        <p:spPr>
          <a:xfrm>
            <a:off x="4754880" y="2496312"/>
            <a:ext cx="6858000" cy="548640"/>
          </a:xfrm>
          <a:prstGeom prst="rect">
            <a:avLst/>
          </a:prstGeom>
          <a:noFill/>
          <a:ln/>
        </p:spPr>
        <p:txBody>
          <a:bodyPr wrap="square" lIns="0" tIns="0" rIns="0" bIns="0" rtlCol="0" anchor="t"/>
          <a:lstStyle/>
          <a:p>
            <a:pPr indent="0" marL="0">
              <a:buNone/>
            </a:pPr>
            <a:r>
              <a:rPr lang="en-US" sz="1300" dirty="0">
                <a:solidFill>
                  <a:schemeClr val="accent4"/>
                </a:solidFill>
              </a:rPr>
              <a:t>Each prescribed item is matched against the pharmacy's stock: enough only if quantity ≥ prescribed amount</a:t>
            </a:r>
            <a:endParaRPr lang="en-US" sz="1300" dirty="0"/>
          </a:p>
        </p:txBody>
      </p:sp>
      <p:sp>
        <p:nvSpPr>
          <p:cNvPr id="14" name="step 3"/>
          <p:cNvSpPr/>
          <p:nvPr/>
        </p:nvSpPr>
        <p:spPr>
          <a:xfrm>
            <a:off x="4114800" y="315468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4114800" y="3154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4754880" y="3136392"/>
            <a:ext cx="6858000" cy="320040"/>
          </a:xfrm>
          <a:prstGeom prst="rect">
            <a:avLst/>
          </a:prstGeom>
          <a:noFill/>
          <a:ln/>
        </p:spPr>
        <p:txBody>
          <a:bodyPr wrap="square" lIns="0" tIns="0" rIns="0" bIns="0" rtlCol="0" anchor="t"/>
          <a:lstStyle/>
          <a:p>
            <a:pPr indent="0" marL="0">
              <a:buNone/>
            </a:pPr>
            <a:r>
              <a:rPr lang="en-US" sz="1600" b="1" dirty="0">
                <a:solidFill>
                  <a:schemeClr val="tx1"/>
                </a:solidFill>
              </a:rPr>
              <a:t>Rank</a:t>
            </a:r>
            <a:endParaRPr lang="en-US" sz="1600" dirty="0"/>
          </a:p>
        </p:txBody>
      </p:sp>
      <p:sp>
        <p:nvSpPr>
          <p:cNvPr id="17" name="Text 14"/>
          <p:cNvSpPr txBox="1"/>
          <p:nvPr/>
        </p:nvSpPr>
        <p:spPr>
          <a:xfrm>
            <a:off x="4754880" y="3456432"/>
            <a:ext cx="6858000" cy="548640"/>
          </a:xfrm>
          <a:prstGeom prst="rect">
            <a:avLst/>
          </a:prstGeom>
          <a:noFill/>
          <a:ln/>
        </p:spPr>
        <p:txBody>
          <a:bodyPr wrap="square" lIns="0" tIns="0" rIns="0" bIns="0" rtlCol="0" anchor="t"/>
          <a:lstStyle/>
          <a:p>
            <a:pPr indent="0" marL="0">
              <a:buNone/>
            </a:pPr>
            <a:r>
              <a:rPr lang="en-US" sz="1300" dirty="0">
                <a:solidFill>
                  <a:schemeClr val="accent4"/>
                </a:solidFill>
              </a:rPr>
              <a:t>Can fill everything first, then more items covered, then nearest, then cheapest total</a:t>
            </a:r>
            <a:endParaRPr lang="en-US" sz="1300" dirty="0"/>
          </a:p>
        </p:txBody>
      </p:sp>
      <p:sp>
        <p:nvSpPr>
          <p:cNvPr id="18" name="ranking code panel"/>
          <p:cNvSpPr/>
          <p:nvPr/>
        </p:nvSpPr>
        <p:spPr>
          <a:xfrm>
            <a:off x="4114800" y="4206240"/>
            <a:ext cx="7498080" cy="1188720"/>
          </a:xfrm>
          <a:prstGeom prst="roundRect">
            <a:avLst>
              <a:gd name="adj" fmla="val 4615"/>
            </a:avLst>
          </a:prstGeom>
          <a:solidFill>
            <a:srgbClr val="13211E"/>
          </a:solidFill>
          <a:ln w="12700">
            <a:solidFill>
              <a:srgbClr val="13211E"/>
            </a:solidFill>
            <a:prstDash val="solid"/>
          </a:ln>
        </p:spPr>
      </p:sp>
      <p:sp>
        <p:nvSpPr>
          <p:cNvPr id="19" name="ranking code"/>
          <p:cNvSpPr txBox="1"/>
          <p:nvPr/>
        </p:nvSpPr>
        <p:spPr>
          <a:xfrm>
            <a:off x="4297680" y="4343400"/>
            <a:ext cx="7132320" cy="914400"/>
          </a:xfrm>
          <a:prstGeom prst="rect">
            <a:avLst/>
          </a:prstGeom>
          <a:noFill/>
          <a:ln/>
        </p:spPr>
        <p:txBody>
          <a:bodyPr wrap="square" lIns="0" tIns="0" rIns="0" bIns="0" rtlCol="0" anchor="t"/>
          <a:lstStyle/>
          <a:p>
            <a:pPr indent="0" marL="0">
              <a:buNone/>
            </a:pPr>
            <a:r>
              <a:rPr lang="en-US" sz="1200" dirty="0">
                <a:solidFill>
                  <a:srgbClr val="E3EFEB"/>
                </a:solidFill>
                <a:latin typeface="Courier New" pitchFamily="34" charset="0"/>
                <a:ea typeface="Courier New" pitchFamily="34" charset="-122"/>
                <a:cs typeface="Courier New" pitchFamily="34" charset="-120"/>
              </a:rPr>
              <a:t>def key(p):                      # geo.py</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full = p["items_available"] == needed_count</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return (0 if full else 1, -p["items_available"],</a:t>
            </a:r>
            <a:endParaRPr lang="en-US" sz="1200" dirty="0"/>
          </a:p>
          <a:p>
            <a:pPr indent="0" marL="0">
              <a:buNone/>
            </a:pPr>
            <a:r>
              <a:rPr lang="en-US" sz="1200" dirty="0">
                <a:solidFill>
                  <a:srgbClr val="E3EFEB"/>
                </a:solidFill>
                <a:latin typeface="Courier New" pitchFamily="34" charset="0"/>
                <a:ea typeface="Courier New" pitchFamily="34" charset="-122"/>
                <a:cs typeface="Courier New" pitchFamily="34" charset="-120"/>
              </a:rPr>
              <a:t>            p["distance_km"], p["total_price_kes"])</a:t>
            </a:r>
            <a:endParaRPr lang="en-US" sz="1200" dirty="0"/>
          </a:p>
        </p:txBody>
      </p:sp>
      <p:sp>
        <p:nvSpPr>
          <p:cNvPr id="20" name="Text 17"/>
          <p:cNvSpPr txBox="1"/>
          <p:nvPr/>
        </p:nvSpPr>
        <p:spPr>
          <a:xfrm>
            <a:off x="4114800" y="5532120"/>
            <a:ext cx="7498080" cy="731520"/>
          </a:xfrm>
          <a:prstGeom prst="rect">
            <a:avLst/>
          </a:prstGeom>
          <a:noFill/>
          <a:ln/>
        </p:spPr>
        <p:txBody>
          <a:bodyPr wrap="square" lIns="0" tIns="0" rIns="0" bIns="0" rtlCol="0" anchor="t"/>
          <a:lstStyle/>
          <a:p>
            <a:pPr indent="0" marL="0">
              <a:buNone/>
            </a:pPr>
            <a:r>
              <a:rPr lang="en-US" sz="1300" b="1" dirty="0">
                <a:solidFill>
                  <a:schemeClr val="tx1"/>
                </a:solidFill>
              </a:rPr>
              <a:t>Search by name: </a:t>
            </a:r>
            <a:pPr indent="0" marL="0">
              <a:buNone/>
            </a:pPr>
            <a:r>
              <a:rPr lang="en-US" sz="1300" dirty="0">
                <a:solidFill>
                  <a:schemeClr val="tx1"/>
                </a:solidFill>
              </a:rPr>
              <a:t>brand or generic, sort by distance, price or stock, filter by open now and distance. </a:t>
            </a:r>
            <a:pPr indent="0" marL="0">
              <a:buNone/>
            </a:pPr>
            <a:r>
              <a:rPr lang="en-US" sz="1300" b="1" dirty="0">
                <a:solidFill>
                  <a:schemeClr val="tx1"/>
                </a:solidFill>
              </a:rPr>
              <a:t>Map: </a:t>
            </a:r>
            <a:pPr indent="0" marL="0">
              <a:buNone/>
            </a:pPr>
            <a:r>
              <a:rPr lang="en-US" sz="1300" dirty="0">
                <a:solidFill>
                  <a:schemeClr val="tx1"/>
                </a:solidFill>
              </a:rPr>
              <a:t>Leaflet markers on OpenStreetMap tiles; stock times shown so patients see how fresh it is.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Security and data protection</a:t>
            </a:r>
            <a:endParaRPr lang="en-US" sz="3400" dirty="0"/>
          </a:p>
        </p:txBody>
      </p:sp>
      <p:sp>
        <p:nvSpPr>
          <p:cNvPr id="3" name="security icon 1 circle"/>
          <p:cNvSpPr/>
          <p:nvPr/>
        </p:nvSpPr>
        <p:spPr>
          <a:xfrm>
            <a:off x="548640" y="1325880"/>
            <a:ext cx="548640" cy="548640"/>
          </a:xfrm>
          <a:prstGeom prst="ellipse">
            <a:avLst/>
          </a:prstGeom>
          <a:solidFill>
            <a:schemeClr val="accent1"/>
          </a:solidFill>
          <a:ln w="12700">
            <a:solidFill>
              <a:schemeClr val="accent1"/>
            </a:solidFill>
            <a:prstDash val="solid"/>
          </a:ln>
        </p:spPr>
      </p:sp>
      <p:pic>
        <p:nvPicPr>
          <p:cNvPr id="4" name="security icon 1" descr="preencoded.png">    </p:cNvPr>
          <p:cNvPicPr>
            <a:picLocks noChangeAspect="1"/>
          </p:cNvPicPr>
          <p:nvPr/>
        </p:nvPicPr>
        <p:blipFill>
          <a:blip r:embed="rId1"/>
          <a:stretch>
            <a:fillRect/>
          </a:stretch>
        </p:blipFill>
        <p:spPr>
          <a:xfrm>
            <a:off x="680314" y="1457554"/>
            <a:ext cx="285293" cy="285293"/>
          </a:xfrm>
          <a:prstGeom prst="rect">
            <a:avLst/>
          </a:prstGeom>
        </p:spPr>
      </p:pic>
      <p:sp>
        <p:nvSpPr>
          <p:cNvPr id="5" name="Text 2"/>
          <p:cNvSpPr txBox="1"/>
          <p:nvPr/>
        </p:nvSpPr>
        <p:spPr>
          <a:xfrm>
            <a:off x="1280160" y="13075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Passwords</a:t>
            </a:r>
            <a:endParaRPr lang="en-US" sz="1600" dirty="0"/>
          </a:p>
        </p:txBody>
      </p:sp>
      <p:sp>
        <p:nvSpPr>
          <p:cNvPr id="6" name="Text 3"/>
          <p:cNvSpPr txBox="1"/>
          <p:nvPr/>
        </p:nvSpPr>
        <p:spPr>
          <a:xfrm>
            <a:off x="1280160" y="16733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Hashed with scrypt and a random salt (Werkzeug); never stored in plain text</a:t>
            </a:r>
            <a:endParaRPr lang="en-US" sz="1300" dirty="0"/>
          </a:p>
        </p:txBody>
      </p:sp>
      <p:sp>
        <p:nvSpPr>
          <p:cNvPr id="7" name="security icon 2 circle"/>
          <p:cNvSpPr/>
          <p:nvPr/>
        </p:nvSpPr>
        <p:spPr>
          <a:xfrm>
            <a:off x="6172200" y="1325880"/>
            <a:ext cx="548640" cy="548640"/>
          </a:xfrm>
          <a:prstGeom prst="ellipse">
            <a:avLst/>
          </a:prstGeom>
          <a:solidFill>
            <a:schemeClr val="accent1"/>
          </a:solidFill>
          <a:ln w="12700">
            <a:solidFill>
              <a:schemeClr val="accent1"/>
            </a:solidFill>
            <a:prstDash val="solid"/>
          </a:ln>
        </p:spPr>
      </p:sp>
      <p:pic>
        <p:nvPicPr>
          <p:cNvPr id="8" name="security icon 2" descr="preencoded.png">    </p:cNvPr>
          <p:cNvPicPr>
            <a:picLocks noChangeAspect="1"/>
          </p:cNvPicPr>
          <p:nvPr/>
        </p:nvPicPr>
        <p:blipFill>
          <a:blip r:embed="rId2"/>
          <a:stretch>
            <a:fillRect/>
          </a:stretch>
        </p:blipFill>
        <p:spPr>
          <a:xfrm>
            <a:off x="6303874" y="1457554"/>
            <a:ext cx="285293" cy="285293"/>
          </a:xfrm>
          <a:prstGeom prst="rect">
            <a:avLst/>
          </a:prstGeom>
        </p:spPr>
      </p:pic>
      <p:sp>
        <p:nvSpPr>
          <p:cNvPr id="9" name="Text 5"/>
          <p:cNvSpPr txBox="1"/>
          <p:nvPr/>
        </p:nvSpPr>
        <p:spPr>
          <a:xfrm>
            <a:off x="6903720" y="13075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Roles and ownership</a:t>
            </a:r>
            <a:endParaRPr lang="en-US" sz="1600" dirty="0"/>
          </a:p>
        </p:txBody>
      </p:sp>
      <p:sp>
        <p:nvSpPr>
          <p:cNvPr id="10" name="Text 6"/>
          <p:cNvSpPr txBox="1"/>
          <p:nvPr/>
        </p:nvSpPr>
        <p:spPr>
          <a:xfrm>
            <a:off x="6903720" y="16733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Checked on the server on every request: 401 not logged in, 403 wrong role, 404 not yours</a:t>
            </a:r>
            <a:endParaRPr lang="en-US" sz="1300" dirty="0"/>
          </a:p>
        </p:txBody>
      </p:sp>
      <p:sp>
        <p:nvSpPr>
          <p:cNvPr id="11" name="security icon 3 circle"/>
          <p:cNvSpPr/>
          <p:nvPr/>
        </p:nvSpPr>
        <p:spPr>
          <a:xfrm>
            <a:off x="548640" y="2697480"/>
            <a:ext cx="548640" cy="548640"/>
          </a:xfrm>
          <a:prstGeom prst="ellipse">
            <a:avLst/>
          </a:prstGeom>
          <a:solidFill>
            <a:schemeClr val="accent1"/>
          </a:solidFill>
          <a:ln w="12700">
            <a:solidFill>
              <a:schemeClr val="accent1"/>
            </a:solidFill>
            <a:prstDash val="solid"/>
          </a:ln>
        </p:spPr>
      </p:sp>
      <p:pic>
        <p:nvPicPr>
          <p:cNvPr id="12" name="security icon 3" descr="preencoded.png">    </p:cNvPr>
          <p:cNvPicPr>
            <a:picLocks noChangeAspect="1"/>
          </p:cNvPicPr>
          <p:nvPr/>
        </p:nvPicPr>
        <p:blipFill>
          <a:blip r:embed="rId3"/>
          <a:stretch>
            <a:fillRect/>
          </a:stretch>
        </p:blipFill>
        <p:spPr>
          <a:xfrm>
            <a:off x="680314" y="2829154"/>
            <a:ext cx="285293" cy="285293"/>
          </a:xfrm>
          <a:prstGeom prst="rect">
            <a:avLst/>
          </a:prstGeom>
        </p:spPr>
      </p:pic>
      <p:sp>
        <p:nvSpPr>
          <p:cNvPr id="13" name="Text 8"/>
          <p:cNvSpPr txBox="1"/>
          <p:nvPr/>
        </p:nvSpPr>
        <p:spPr>
          <a:xfrm>
            <a:off x="1280160" y="26791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Patient-controlled sharing</a:t>
            </a:r>
            <a:endParaRPr lang="en-US" sz="1600" dirty="0"/>
          </a:p>
        </p:txBody>
      </p:sp>
      <p:sp>
        <p:nvSpPr>
          <p:cNvPr id="14" name="Text 9"/>
          <p:cNvSpPr txBox="1"/>
          <p:nvPr/>
        </p:nvSpPr>
        <p:spPr>
          <a:xfrm>
            <a:off x="1280160" y="30449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A pharmacy opens a prescription only during a 1–72 h grant; revoking blocks it instantly</a:t>
            </a:r>
            <a:endParaRPr lang="en-US" sz="1300" dirty="0"/>
          </a:p>
        </p:txBody>
      </p:sp>
      <p:sp>
        <p:nvSpPr>
          <p:cNvPr id="15" name="security icon 4 circle"/>
          <p:cNvSpPr/>
          <p:nvPr/>
        </p:nvSpPr>
        <p:spPr>
          <a:xfrm>
            <a:off x="6172200" y="2697480"/>
            <a:ext cx="548640" cy="548640"/>
          </a:xfrm>
          <a:prstGeom prst="ellipse">
            <a:avLst/>
          </a:prstGeom>
          <a:solidFill>
            <a:schemeClr val="accent1"/>
          </a:solidFill>
          <a:ln w="12700">
            <a:solidFill>
              <a:schemeClr val="accent1"/>
            </a:solidFill>
            <a:prstDash val="solid"/>
          </a:ln>
        </p:spPr>
      </p:sp>
      <p:pic>
        <p:nvPicPr>
          <p:cNvPr id="16" name="security icon 4" descr="preencoded.png">    </p:cNvPr>
          <p:cNvPicPr>
            <a:picLocks noChangeAspect="1"/>
          </p:cNvPicPr>
          <p:nvPr/>
        </p:nvPicPr>
        <p:blipFill>
          <a:blip r:embed="rId4"/>
          <a:stretch>
            <a:fillRect/>
          </a:stretch>
        </p:blipFill>
        <p:spPr>
          <a:xfrm>
            <a:off x="6303874" y="2829154"/>
            <a:ext cx="285293" cy="285293"/>
          </a:xfrm>
          <a:prstGeom prst="rect">
            <a:avLst/>
          </a:prstGeom>
        </p:spPr>
      </p:pic>
      <p:sp>
        <p:nvSpPr>
          <p:cNvPr id="17" name="Text 11"/>
          <p:cNvSpPr txBox="1"/>
          <p:nvPr/>
        </p:nvSpPr>
        <p:spPr>
          <a:xfrm>
            <a:off x="6903720" y="26791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Single use and expiry</a:t>
            </a:r>
            <a:endParaRPr lang="en-US" sz="1600" dirty="0"/>
          </a:p>
        </p:txBody>
      </p:sp>
      <p:sp>
        <p:nvSpPr>
          <p:cNvPr id="18" name="Text 12"/>
          <p:cNvSpPr txBox="1"/>
          <p:nvPr/>
        </p:nvSpPr>
        <p:spPr>
          <a:xfrm>
            <a:off x="6903720" y="30449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Filled, expired or cancelled prescriptions cannot be dispensed; access closes after dispensing</a:t>
            </a:r>
            <a:endParaRPr lang="en-US" sz="1300" dirty="0"/>
          </a:p>
        </p:txBody>
      </p:sp>
      <p:sp>
        <p:nvSpPr>
          <p:cNvPr id="19" name="security icon 5 circle"/>
          <p:cNvSpPr/>
          <p:nvPr/>
        </p:nvSpPr>
        <p:spPr>
          <a:xfrm>
            <a:off x="548640" y="4069080"/>
            <a:ext cx="548640" cy="548640"/>
          </a:xfrm>
          <a:prstGeom prst="ellipse">
            <a:avLst/>
          </a:prstGeom>
          <a:solidFill>
            <a:schemeClr val="accent1"/>
          </a:solidFill>
          <a:ln w="12700">
            <a:solidFill>
              <a:schemeClr val="accent1"/>
            </a:solidFill>
            <a:prstDash val="solid"/>
          </a:ln>
        </p:spPr>
      </p:sp>
      <p:pic>
        <p:nvPicPr>
          <p:cNvPr id="20" name="security icon 5" descr="preencoded.png">    </p:cNvPr>
          <p:cNvPicPr>
            <a:picLocks noChangeAspect="1"/>
          </p:cNvPicPr>
          <p:nvPr/>
        </p:nvPicPr>
        <p:blipFill>
          <a:blip r:embed="rId5"/>
          <a:stretch>
            <a:fillRect/>
          </a:stretch>
        </p:blipFill>
        <p:spPr>
          <a:xfrm>
            <a:off x="680314" y="4200754"/>
            <a:ext cx="285293" cy="285293"/>
          </a:xfrm>
          <a:prstGeom prst="rect">
            <a:avLst/>
          </a:prstGeom>
        </p:spPr>
      </p:pic>
      <p:sp>
        <p:nvSpPr>
          <p:cNvPr id="21" name="Text 14"/>
          <p:cNvSpPr txBox="1"/>
          <p:nvPr/>
        </p:nvSpPr>
        <p:spPr>
          <a:xfrm>
            <a:off x="1280160" y="40507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Audit log</a:t>
            </a:r>
            <a:endParaRPr lang="en-US" sz="1600" dirty="0"/>
          </a:p>
        </p:txBody>
      </p:sp>
      <p:sp>
        <p:nvSpPr>
          <p:cNvPr id="22" name="Text 15"/>
          <p:cNvSpPr txBox="1"/>
          <p:nvPr/>
        </p:nvSpPr>
        <p:spPr>
          <a:xfrm>
            <a:off x="1280160" y="44165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Logins, prescriptions, sharing, stock changes, dispensing and admin actions, with user and time</a:t>
            </a:r>
            <a:endParaRPr lang="en-US" sz="1300" dirty="0"/>
          </a:p>
        </p:txBody>
      </p:sp>
      <p:sp>
        <p:nvSpPr>
          <p:cNvPr id="23" name="security icon 6 circle"/>
          <p:cNvSpPr/>
          <p:nvPr/>
        </p:nvSpPr>
        <p:spPr>
          <a:xfrm>
            <a:off x="6172200" y="4069080"/>
            <a:ext cx="548640" cy="548640"/>
          </a:xfrm>
          <a:prstGeom prst="ellipse">
            <a:avLst/>
          </a:prstGeom>
          <a:solidFill>
            <a:schemeClr val="accent1"/>
          </a:solidFill>
          <a:ln w="12700">
            <a:solidFill>
              <a:schemeClr val="accent1"/>
            </a:solidFill>
            <a:prstDash val="solid"/>
          </a:ln>
        </p:spPr>
      </p:sp>
      <p:pic>
        <p:nvPicPr>
          <p:cNvPr id="24" name="security icon 6" descr="preencoded.png">    </p:cNvPr>
          <p:cNvPicPr>
            <a:picLocks noChangeAspect="1"/>
          </p:cNvPicPr>
          <p:nvPr/>
        </p:nvPicPr>
        <p:blipFill>
          <a:blip r:embed="rId6"/>
          <a:stretch>
            <a:fillRect/>
          </a:stretch>
        </p:blipFill>
        <p:spPr>
          <a:xfrm>
            <a:off x="6303874" y="4200754"/>
            <a:ext cx="285293" cy="285293"/>
          </a:xfrm>
          <a:prstGeom prst="rect">
            <a:avLst/>
          </a:prstGeom>
        </p:spPr>
      </p:pic>
      <p:sp>
        <p:nvSpPr>
          <p:cNvPr id="25" name="Text 17"/>
          <p:cNvSpPr txBox="1"/>
          <p:nvPr/>
        </p:nvSpPr>
        <p:spPr>
          <a:xfrm>
            <a:off x="6903720" y="4050792"/>
            <a:ext cx="4663440" cy="347472"/>
          </a:xfrm>
          <a:prstGeom prst="rect">
            <a:avLst/>
          </a:prstGeom>
          <a:noFill/>
          <a:ln/>
        </p:spPr>
        <p:txBody>
          <a:bodyPr wrap="square" lIns="0" tIns="0" rIns="0" bIns="0" rtlCol="0" anchor="t"/>
          <a:lstStyle/>
          <a:p>
            <a:pPr indent="0" marL="0">
              <a:buNone/>
            </a:pPr>
            <a:r>
              <a:rPr lang="en-US" sz="1600" b="1" dirty="0">
                <a:solidFill>
                  <a:schemeClr val="tx1"/>
                </a:solidFill>
              </a:rPr>
              <a:t>Attempt limits</a:t>
            </a:r>
            <a:endParaRPr lang="en-US" sz="1600" dirty="0"/>
          </a:p>
        </p:txBody>
      </p:sp>
      <p:sp>
        <p:nvSpPr>
          <p:cNvPr id="26" name="Text 18"/>
          <p:cNvSpPr txBox="1"/>
          <p:nvPr/>
        </p:nvSpPr>
        <p:spPr>
          <a:xfrm>
            <a:off x="6903720" y="4416552"/>
            <a:ext cx="4663440" cy="777240"/>
          </a:xfrm>
          <a:prstGeom prst="rect">
            <a:avLst/>
          </a:prstGeom>
          <a:noFill/>
          <a:ln/>
        </p:spPr>
        <p:txBody>
          <a:bodyPr wrap="square" lIns="0" tIns="0" rIns="0" bIns="0" rtlCol="0" anchor="t"/>
          <a:lstStyle/>
          <a:p>
            <a:pPr indent="0" marL="0">
              <a:buNone/>
            </a:pPr>
            <a:r>
              <a:rPr lang="en-US" sz="1300" dirty="0">
                <a:solidFill>
                  <a:schemeClr val="accent4"/>
                </a:solidFill>
              </a:rPr>
              <a:t>5 failed logins or 10 wrong codes in 15 minutes returns 429</a:t>
            </a:r>
            <a:endParaRPr lang="en-US" sz="1300" dirty="0"/>
          </a:p>
        </p:txBody>
      </p:sp>
      <p:sp>
        <p:nvSpPr>
          <p:cNvPr id="27" name="not claimed card"/>
          <p:cNvSpPr/>
          <p:nvPr/>
        </p:nvSpPr>
        <p:spPr>
          <a:xfrm>
            <a:off x="548640" y="5532120"/>
            <a:ext cx="11064240" cy="640080"/>
          </a:xfrm>
          <a:prstGeom prst="roundRect">
            <a:avLst>
              <a:gd name="adj" fmla="val 11429"/>
            </a:avLst>
          </a:prstGeom>
          <a:solidFill>
            <a:srgbClr val="FBEFD9"/>
          </a:solidFill>
          <a:ln w="12700">
            <a:solidFill>
              <a:srgbClr val="FBEFD9"/>
            </a:solidFill>
            <a:prstDash val="solid"/>
          </a:ln>
        </p:spPr>
      </p:sp>
      <p:sp>
        <p:nvSpPr>
          <p:cNvPr id="28" name="Text 20"/>
          <p:cNvSpPr txBox="1"/>
          <p:nvPr/>
        </p:nvSpPr>
        <p:spPr>
          <a:xfrm>
            <a:off x="777240" y="5623560"/>
            <a:ext cx="10607040" cy="457200"/>
          </a:xfrm>
          <a:prstGeom prst="rect">
            <a:avLst/>
          </a:prstGeom>
          <a:noFill/>
          <a:ln/>
        </p:spPr>
        <p:txBody>
          <a:bodyPr wrap="square" lIns="0" tIns="0" rIns="0" bIns="0" rtlCol="0" anchor="ctr"/>
          <a:lstStyle/>
          <a:p>
            <a:pPr indent="0" marL="0">
              <a:buNone/>
            </a:pPr>
            <a:r>
              <a:rPr lang="en-US" sz="1300" b="1" dirty="0">
                <a:solidFill>
                  <a:schemeClr val="accent2"/>
                </a:solidFill>
              </a:rPr>
              <a:t>Not claimed: </a:t>
            </a:r>
            <a:pPr indent="0" marL="0">
              <a:buNone/>
            </a:pPr>
            <a:r>
              <a:rPr lang="en-US" sz="1300" dirty="0">
                <a:solidFill>
                  <a:schemeClr val="tx1"/>
                </a:solidFill>
              </a:rPr>
              <a:t>encryption of stored data, anonymised search and account deletion from the proposal are not implemented yet. HTTPS comes from Vercel; TLS to MySQL when configured.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Code quality and testing</a:t>
            </a:r>
            <a:endParaRPr lang="en-US" sz="3400" dirty="0"/>
          </a:p>
        </p:txBody>
      </p:sp>
      <p:sp>
        <p:nvSpPr>
          <p:cNvPr id="3" name="pytest stat card"/>
          <p:cNvSpPr/>
          <p:nvPr/>
        </p:nvSpPr>
        <p:spPr>
          <a:xfrm>
            <a:off x="548640" y="1280160"/>
            <a:ext cx="2743200" cy="1783080"/>
          </a:xfrm>
          <a:prstGeom prst="roundRect">
            <a:avLst>
              <a:gd name="adj" fmla="val 4103"/>
            </a:avLst>
          </a:prstGeom>
          <a:solidFill>
            <a:schemeClr val="bg2"/>
          </a:solidFill>
          <a:ln w="12700">
            <a:solidFill>
              <a:schemeClr val="bg2"/>
            </a:solidFill>
            <a:prstDash val="solid"/>
          </a:ln>
        </p:spPr>
      </p:sp>
      <p:sp>
        <p:nvSpPr>
          <p:cNvPr id="4" name="Text 2"/>
          <p:cNvSpPr txBox="1"/>
          <p:nvPr/>
        </p:nvSpPr>
        <p:spPr>
          <a:xfrm>
            <a:off x="731520" y="1371600"/>
            <a:ext cx="2468880" cy="86868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66 / 66</a:t>
            </a:r>
            <a:endParaRPr lang="en-US" sz="4400" dirty="0"/>
          </a:p>
        </p:txBody>
      </p:sp>
      <p:sp>
        <p:nvSpPr>
          <p:cNvPr id="5" name="Text 3"/>
          <p:cNvSpPr txBox="1"/>
          <p:nvPr/>
        </p:nvSpPr>
        <p:spPr>
          <a:xfrm>
            <a:off x="731520" y="2240280"/>
            <a:ext cx="2423160" cy="731520"/>
          </a:xfrm>
          <a:prstGeom prst="rect">
            <a:avLst/>
          </a:prstGeom>
          <a:noFill/>
          <a:ln/>
        </p:spPr>
        <p:txBody>
          <a:bodyPr wrap="square" lIns="0" tIns="0" rIns="0" bIns="0" rtlCol="0" anchor="t"/>
          <a:lstStyle/>
          <a:p>
            <a:pPr indent="0" marL="0">
              <a:buNone/>
            </a:pPr>
            <a:r>
              <a:rPr lang="en-US" sz="1300" dirty="0">
                <a:solidFill>
                  <a:schemeClr val="tx1"/>
                </a:solidFill>
              </a:rPr>
              <a:t>pytest tests passed, on real MySQL rebuilt before each test</a:t>
            </a:r>
            <a:endParaRPr lang="en-US" sz="1300" dirty="0"/>
          </a:p>
        </p:txBody>
      </p:sp>
      <p:sp>
        <p:nvSpPr>
          <p:cNvPr id="6" name="postman stat card"/>
          <p:cNvSpPr/>
          <p:nvPr/>
        </p:nvSpPr>
        <p:spPr>
          <a:xfrm>
            <a:off x="548640" y="3291840"/>
            <a:ext cx="2743200" cy="1783080"/>
          </a:xfrm>
          <a:prstGeom prst="roundRect">
            <a:avLst>
              <a:gd name="adj" fmla="val 4103"/>
            </a:avLst>
          </a:prstGeom>
          <a:solidFill>
            <a:schemeClr val="bg2"/>
          </a:solidFill>
          <a:ln w="12700">
            <a:solidFill>
              <a:schemeClr val="bg2"/>
            </a:solidFill>
            <a:prstDash val="solid"/>
          </a:ln>
        </p:spPr>
      </p:sp>
      <p:sp>
        <p:nvSpPr>
          <p:cNvPr id="7" name="Text 5"/>
          <p:cNvSpPr txBox="1"/>
          <p:nvPr/>
        </p:nvSpPr>
        <p:spPr>
          <a:xfrm>
            <a:off x="731520" y="3383280"/>
            <a:ext cx="2468880" cy="86868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30 / 30</a:t>
            </a:r>
            <a:endParaRPr lang="en-US" sz="4400" dirty="0"/>
          </a:p>
        </p:txBody>
      </p:sp>
      <p:sp>
        <p:nvSpPr>
          <p:cNvPr id="8" name="Text 6"/>
          <p:cNvSpPr txBox="1"/>
          <p:nvPr/>
        </p:nvSpPr>
        <p:spPr>
          <a:xfrm>
            <a:off x="731520" y="4251960"/>
            <a:ext cx="2423160" cy="731520"/>
          </a:xfrm>
          <a:prstGeom prst="rect">
            <a:avLst/>
          </a:prstGeom>
          <a:noFill/>
          <a:ln/>
        </p:spPr>
        <p:txBody>
          <a:bodyPr wrap="square" lIns="0" tIns="0" rIns="0" bIns="0" rtlCol="0" anchor="t"/>
          <a:lstStyle/>
          <a:p>
            <a:pPr indent="0" marL="0">
              <a:buNone/>
            </a:pPr>
            <a:r>
              <a:rPr lang="en-US" sz="1300" dirty="0">
                <a:solidFill>
                  <a:schemeClr val="tx1"/>
                </a:solidFill>
              </a:rPr>
              <a:t>Postman assertions passed across 22 API requests (Newman)</a:t>
            </a:r>
            <a:endParaRPr lang="en-US" sz="1300" dirty="0"/>
          </a:p>
        </p:txBody>
      </p:sp>
      <p:graphicFrame>
        <p:nvGraphicFramePr>
          <p:cNvPr id="9" name="tests chart" descr=""/>
          <p:cNvGraphicFramePr/>
          <p:nvPr/>
        </p:nvGraphicFramePr>
        <p:xfrm>
          <a:off x="3566160" y="1280160"/>
          <a:ext cx="4023360" cy="37947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955280" y="1280160"/>
            <a:ext cx="3657600" cy="365760"/>
          </a:xfrm>
          <a:prstGeom prst="rect">
            <a:avLst/>
          </a:prstGeom>
          <a:noFill/>
          <a:ln/>
        </p:spPr>
        <p:txBody>
          <a:bodyPr wrap="square" lIns="0" tIns="0" rIns="0" bIns="0" rtlCol="0" anchor="t"/>
          <a:lstStyle/>
          <a:p>
            <a:pPr indent="0" marL="0">
              <a:buNone/>
            </a:pPr>
            <a:r>
              <a:rPr lang="en-US" sz="1600" b="1" dirty="0">
                <a:solidFill>
                  <a:schemeClr val="tx2"/>
                </a:solidFill>
              </a:rPr>
              <a:t>Example cases from the test report</a:t>
            </a:r>
            <a:endParaRPr lang="en-US" sz="1600" dirty="0"/>
          </a:p>
        </p:txBody>
      </p:sp>
      <p:sp>
        <p:nvSpPr>
          <p:cNvPr id="11" name="Text 8"/>
          <p:cNvSpPr txBox="1"/>
          <p:nvPr/>
        </p:nvSpPr>
        <p:spPr>
          <a:xfrm>
            <a:off x="7955280" y="1691640"/>
            <a:ext cx="3657600" cy="338328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Full journey: </a:t>
            </a:r>
            <a:pPr indent="0" marL="0">
              <a:spcAft>
                <a:spcPts val="800"/>
              </a:spcAft>
              <a:buNone/>
            </a:pPr>
            <a:r>
              <a:rPr lang="en-US" sz="1300" dirty="0">
                <a:solidFill>
                  <a:schemeClr val="tx1"/>
                </a:solidFill>
              </a:rPr>
              <a:t>doctor issues, patient shares, pharmacist dispenses; stock 200 to 140 and 170</a:t>
            </a:r>
            <a:endParaRPr lang="en-US" sz="1300" dirty="0"/>
          </a:p>
          <a:p>
            <a:pPr indent="0" marL="0">
              <a:spcAft>
                <a:spcPts val="800"/>
              </a:spcAft>
              <a:buNone/>
            </a:pPr>
            <a:r>
              <a:rPr lang="en-US" sz="1300" b="1" dirty="0">
                <a:solidFill>
                  <a:schemeClr val="tx1"/>
                </a:solidFill>
              </a:rPr>
              <a:t>Code reuse: </a:t>
            </a:r>
            <a:pPr indent="0" marL="0">
              <a:spcAft>
                <a:spcPts val="800"/>
              </a:spcAft>
              <a:buNone/>
            </a:pPr>
            <a:r>
              <a:rPr lang="en-US" sz="1300" dirty="0">
                <a:solidFill>
                  <a:schemeClr val="tx1"/>
                </a:solidFill>
              </a:rPr>
              <a:t>second dispense returns 409 and stock is unchanged</a:t>
            </a:r>
            <a:endParaRPr lang="en-US" sz="1300" dirty="0"/>
          </a:p>
          <a:p>
            <a:pPr indent="0" marL="0">
              <a:spcAft>
                <a:spcPts val="800"/>
              </a:spcAft>
              <a:buNone/>
            </a:pPr>
            <a:r>
              <a:rPr lang="en-US" sz="1300" b="1" dirty="0">
                <a:solidFill>
                  <a:schemeClr val="tx1"/>
                </a:solidFill>
              </a:rPr>
              <a:t>Invalid input: </a:t>
            </a:r>
            <a:pPr indent="0" marL="0">
              <a:spcAft>
                <a:spcPts val="800"/>
              </a:spcAft>
              <a:buNone/>
            </a:pPr>
            <a:r>
              <a:rPr lang="en-US" sz="1300" dirty="0">
                <a:solidFill>
                  <a:schemeClr val="tx1"/>
                </a:solidFill>
              </a:rPr>
              <a:t>10 bad prescriptions all rejected, none saved</a:t>
            </a:r>
            <a:endParaRPr lang="en-US" sz="1300" dirty="0"/>
          </a:p>
          <a:p>
            <a:pPr indent="0" marL="0">
              <a:spcAft>
                <a:spcPts val="800"/>
              </a:spcAft>
              <a:buNone/>
            </a:pPr>
            <a:r>
              <a:rPr lang="en-US" sz="1300" b="1" dirty="0">
                <a:solidFill>
                  <a:schemeClr val="tx1"/>
                </a:solidFill>
              </a:rPr>
              <a:t>Role escalation: </a:t>
            </a:r>
            <a:pPr indent="0" marL="0">
              <a:spcAft>
                <a:spcPts val="800"/>
              </a:spcAft>
              <a:buNone/>
            </a:pPr>
            <a:r>
              <a:rPr lang="en-US" sz="1300" dirty="0">
                <a:solidFill>
                  <a:schemeClr val="tx1"/>
                </a:solidFill>
              </a:rPr>
              <a:t>signing up as doctor still creates a patient</a:t>
            </a:r>
            <a:endParaRPr lang="en-US" sz="1300" dirty="0"/>
          </a:p>
        </p:txBody>
      </p:sp>
      <p:sp>
        <p:nvSpPr>
          <p:cNvPr id="12" name="Text 9"/>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300" b="1" dirty="0">
                <a:solidFill>
                  <a:schemeClr val="tx1"/>
                </a:solidFill>
              </a:rPr>
              <a:t>Code quality: </a:t>
            </a:r>
            <a:pPr indent="0" marL="0">
              <a:buNone/>
            </a:pPr>
            <a:r>
              <a:rPr lang="en-US" sz="1300" dirty="0">
                <a:solidFill>
                  <a:schemeClr val="tx1"/>
                </a:solidFill>
              </a:rPr>
              <a:t>one Flask blueprint per role, shared helpers for validation, security and audit; PEP 8 style; every SQL query parameterised; generated test report in docs/TEST_REPORT.md.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Technical challenges and solutions</a:t>
            </a:r>
            <a:endParaRPr lang="en-US" sz="3400" dirty="0"/>
          </a:p>
        </p:txBody>
      </p:sp>
      <p:graphicFrame>
        <p:nvGraphicFramePr>
          <p:cNvPr id="12" name="challenge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4206240"/>
                <a:gridCol w="3566160"/>
              </a:tblGrid>
              <a:tr h="411480">
                <a:tc>
                  <a:txBody>
                    <a:bodyPr/>
                    <a:lstStyle/>
                    <a:p>
                      <a:pPr indent="0" marL="0">
                        <a:buNone/>
                      </a:pPr>
                      <a:r>
                        <a:rPr lang="en-US" sz="1400" b="1" dirty="0">
                          <a:solidFill>
                            <a:schemeClr val="bg1"/>
                          </a:solidFill>
                        </a:rPr>
                        <a:t>Challenge</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Solution</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Did it work?</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r>
              <a:tr h="914400">
                <a:tc>
                  <a:txBody>
                    <a:bodyPr/>
                    <a:lstStyle/>
                    <a:p>
                      <a:pPr indent="0" marL="0">
                        <a:buNone/>
                      </a:pPr>
                      <a:r>
                        <a:rPr lang="en-US" sz="1400" b="1" dirty="0">
                          <a:solidFill>
                            <a:schemeClr val="tx1"/>
                          </a:solidFill>
                        </a:rPr>
                        <a:t>Two pharmacists dispensing one code at once</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SELECT … FOR UPDATE row locks and updates conditional on status</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Concurrency test: one 200, one 409, stock reduced once</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914400">
                <a:tc>
                  <a:txBody>
                    <a:bodyPr/>
                    <a:lstStyle/>
                    <a:p>
                      <a:pPr indent="0" marL="0">
                        <a:buNone/>
                      </a:pPr>
                      <a:r>
                        <a:rPr lang="en-US" sz="1400" b="1" dirty="0">
                          <a:solidFill>
                            <a:schemeClr val="tx1"/>
                          </a:solidFill>
                        </a:rPr>
                        <a:t>Vercel has no background jobs, memory or disk between requests</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Expiry applied whenever prescriptions are read; attempt limits counted from the audit log</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Works locally as stateless code; live Vercel deploy still to do</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914400">
                <a:tc>
                  <a:txBody>
                    <a:bodyPr/>
                    <a:lstStyle/>
                    <a:p>
                      <a:pPr indent="0" marL="0">
                        <a:buNone/>
                      </a:pPr>
                      <a:r>
                        <a:rPr lang="en-US" sz="1400" b="1" dirty="0">
                          <a:solidFill>
                            <a:schemeClr val="tx1"/>
                          </a:solidFill>
                        </a:rPr>
                        <a:t>Codes without QR can be guessed or misread</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Random 8-character code without look-alike characters; 10 failures in 15 min blocked</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Rate-limit test passes; lower-case and spaced input accepted</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914400">
                <a:tc>
                  <a:txBody>
                    <a:bodyPr/>
                    <a:lstStyle/>
                    <a:p>
                      <a:pPr indent="0" marL="0">
                        <a:buNone/>
                      </a:pPr>
                      <a:r>
                        <a:rPr lang="en-US" sz="1400" b="1" dirty="0">
                          <a:solidFill>
                            <a:schemeClr val="tx1"/>
                          </a:solidFill>
                        </a:rPr>
                        <a:t>Proposal schema could not support the features</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Added password hash, coordinates, generic name, revoked_at; renamed the reserved-word column</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All 12 tables created from schema.sql in every test run</a:t>
                      </a:r>
                      <a:endParaRPr lang="en-US" sz="1400" dirty="0"/>
                    </a:p>
                  </a:txBody>
                  <a:tcPr marL="109728" marR="109728" marT="54864" marB="54864"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Feedback integration</a:t>
            </a:r>
            <a:endParaRPr lang="en-US" sz="3400" dirty="0"/>
          </a:p>
        </p:txBody>
      </p:sp>
      <p:sp>
        <p:nvSpPr>
          <p:cNvPr id="3" name="status card"/>
          <p:cNvSpPr/>
          <p:nvPr/>
        </p:nvSpPr>
        <p:spPr>
          <a:xfrm>
            <a:off x="548640" y="1325880"/>
            <a:ext cx="11064240" cy="685800"/>
          </a:xfrm>
          <a:prstGeom prst="roundRect">
            <a:avLst>
              <a:gd name="adj" fmla="val 10667"/>
            </a:avLst>
          </a:prstGeom>
          <a:solidFill>
            <a:srgbClr val="FBEFD9"/>
          </a:solidFill>
          <a:ln w="12700">
            <a:solidFill>
              <a:srgbClr val="FBEFD9"/>
            </a:solidFill>
            <a:prstDash val="solid"/>
          </a:ln>
        </p:spPr>
      </p:sp>
      <p:sp>
        <p:nvSpPr>
          <p:cNvPr id="4" name="Text 2"/>
          <p:cNvSpPr txBox="1"/>
          <p:nvPr/>
        </p:nvSpPr>
        <p:spPr>
          <a:xfrm>
            <a:off x="777240" y="1417320"/>
            <a:ext cx="10607040" cy="502920"/>
          </a:xfrm>
          <a:prstGeom prst="rect">
            <a:avLst/>
          </a:prstGeom>
          <a:noFill/>
          <a:ln/>
        </p:spPr>
        <p:txBody>
          <a:bodyPr wrap="square" lIns="0" tIns="0" rIns="0" bIns="0" rtlCol="0" anchor="ctr"/>
          <a:lstStyle/>
          <a:p>
            <a:pPr indent="0" marL="0">
              <a:buNone/>
            </a:pPr>
            <a:r>
              <a:rPr lang="en-US" sz="1400" dirty="0">
                <a:solidFill>
                  <a:schemeClr val="tx1"/>
                </a:solidFill>
              </a:rPr>
              <a:t>We have not yet received formal reviewer feedback on the implementation. Changes so far came from the team's own design review of the proposal.</a:t>
            </a:r>
            <a:endParaRPr lang="en-US" sz="1400" dirty="0"/>
          </a:p>
        </p:txBody>
      </p:sp>
      <p:sp>
        <p:nvSpPr>
          <p:cNvPr id="5" name="Text 3"/>
          <p:cNvSpPr txBox="1"/>
          <p:nvPr/>
        </p:nvSpPr>
        <p:spPr>
          <a:xfrm>
            <a:off x="548640" y="22860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Design review of the proposal</a:t>
            </a:r>
            <a:endParaRPr lang="en-US" sz="1800" dirty="0"/>
          </a:p>
        </p:txBody>
      </p:sp>
      <p:sp>
        <p:nvSpPr>
          <p:cNvPr id="6" name="Text 4"/>
          <p:cNvSpPr txBox="1"/>
          <p:nvPr/>
        </p:nvSpPr>
        <p:spPr>
          <a:xfrm>
            <a:off x="548640" y="2697480"/>
            <a:ext cx="5303520" cy="32918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Finding: </a:t>
            </a:r>
            <a:pPr indent="0" marL="0">
              <a:spcAft>
                <a:spcPts val="400"/>
              </a:spcAft>
              <a:buNone/>
            </a:pPr>
            <a:r>
              <a:rPr lang="en-US" sz="1400" dirty="0">
                <a:solidFill>
                  <a:schemeClr val="tx1"/>
                </a:solidFill>
              </a:rPr>
              <a:t>schema missing password hash, pharmacist-pharmacy link, coordinates</a:t>
            </a:r>
            <a:endParaRPr lang="en-US" sz="1400" dirty="0"/>
          </a:p>
          <a:p>
            <a:pPr indent="0" marL="0">
              <a:spcAft>
                <a:spcPts val="400"/>
              </a:spcAft>
              <a:buNone/>
            </a:pPr>
            <a:r>
              <a:rPr lang="en-US" sz="1400" b="1" dirty="0">
                <a:solidFill>
                  <a:schemeClr val="tx1"/>
                </a:solidFill>
              </a:rPr>
              <a:t>Change: </a:t>
            </a:r>
            <a:pPr indent="0" marL="0">
              <a:spcAft>
                <a:spcPts val="400"/>
              </a:spcAft>
              <a:buNone/>
            </a:pPr>
            <a:r>
              <a:rPr lang="en-US" sz="1400" dirty="0">
                <a:solidFill>
                  <a:schemeClr val="tx1"/>
                </a:solidFill>
              </a:rPr>
              <a:t>columns added (slide 6)</a:t>
            </a:r>
            <a:endParaRPr lang="en-US" sz="1400" dirty="0"/>
          </a:p>
          <a:p>
            <a:pPr indent="0" marL="0">
              <a:spcAft>
                <a:spcPts val="400"/>
              </a:spcAft>
              <a:buNone/>
            </a:pPr>
            <a:r>
              <a:rPr lang="en-US" sz="1400" b="1" dirty="0">
                <a:solidFill>
                  <a:schemeClr val="tx1"/>
                </a:solidFill>
              </a:rPr>
              <a:t>Finding: </a:t>
            </a:r>
            <a:pPr indent="0" marL="0">
              <a:spcAft>
                <a:spcPts val="400"/>
              </a:spcAft>
              <a:buNone/>
            </a:pPr>
            <a:r>
              <a:rPr lang="en-US" sz="1400" dirty="0">
                <a:solidFill>
                  <a:schemeClr val="tx1"/>
                </a:solidFill>
              </a:rPr>
              <a:t>anyone could register as a doctor</a:t>
            </a:r>
            <a:endParaRPr lang="en-US" sz="1400" dirty="0"/>
          </a:p>
          <a:p>
            <a:pPr indent="0" marL="0">
              <a:spcAft>
                <a:spcPts val="400"/>
              </a:spcAft>
              <a:buNone/>
            </a:pPr>
            <a:r>
              <a:rPr lang="en-US" sz="1400" b="1" dirty="0">
                <a:solidFill>
                  <a:schemeClr val="tx1"/>
                </a:solidFill>
              </a:rPr>
              <a:t>Change: </a:t>
            </a:r>
            <a:pPr indent="0" marL="0">
              <a:spcAft>
                <a:spcPts val="400"/>
              </a:spcAft>
              <a:buNone/>
            </a:pPr>
            <a:r>
              <a:rPr lang="en-US" sz="1400" dirty="0">
                <a:solidFill>
                  <a:schemeClr val="tx1"/>
                </a:solidFill>
              </a:rPr>
              <a:t>only patients self-register; admin creates staff</a:t>
            </a:r>
            <a:endParaRPr lang="en-US" sz="1400" dirty="0"/>
          </a:p>
          <a:p>
            <a:pPr indent="0" marL="0">
              <a:spcAft>
                <a:spcPts val="400"/>
              </a:spcAft>
              <a:buNone/>
            </a:pPr>
            <a:r>
              <a:rPr lang="en-US" sz="1400" b="1" dirty="0">
                <a:solidFill>
                  <a:schemeClr val="tx1"/>
                </a:solidFill>
              </a:rPr>
              <a:t>Finding: </a:t>
            </a:r>
            <a:pPr indent="0" marL="0">
              <a:spcAft>
                <a:spcPts val="400"/>
              </a:spcAft>
              <a:buNone/>
            </a:pPr>
            <a:r>
              <a:rPr lang="en-US" sz="1400" dirty="0">
                <a:solidFill>
                  <a:schemeClr val="tx1"/>
                </a:solidFill>
              </a:rPr>
              <a:t>QR expiry and reservation timer were mixed up</a:t>
            </a:r>
            <a:endParaRPr lang="en-US" sz="1400" dirty="0"/>
          </a:p>
          <a:p>
            <a:pPr indent="0" marL="0">
              <a:spcAft>
                <a:spcPts val="400"/>
              </a:spcAft>
              <a:buNone/>
            </a:pPr>
            <a:r>
              <a:rPr lang="en-US" sz="1400" b="1" dirty="0">
                <a:solidFill>
                  <a:schemeClr val="tx1"/>
                </a:solidFill>
              </a:rPr>
              <a:t>Change: </a:t>
            </a:r>
            <a:pPr indent="0" marL="0">
              <a:spcAft>
                <a:spcPts val="400"/>
              </a:spcAft>
              <a:buNone/>
            </a:pPr>
            <a:r>
              <a:rPr lang="en-US" sz="1400" dirty="0">
                <a:solidFill>
                  <a:schemeClr val="tx1"/>
                </a:solidFill>
              </a:rPr>
              <a:t>scope simplified to one code with patient-controlled access</a:t>
            </a:r>
            <a:endParaRPr lang="en-US" sz="1400" dirty="0"/>
          </a:p>
        </p:txBody>
      </p:sp>
      <p:sp>
        <p:nvSpPr>
          <p:cNvPr id="7" name="Text 5"/>
          <p:cNvSpPr txBox="1"/>
          <p:nvPr/>
        </p:nvSpPr>
        <p:spPr>
          <a:xfrm>
            <a:off x="6309360" y="22860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How we will handle feedback</a:t>
            </a:r>
            <a:endParaRPr lang="en-US" sz="1800" dirty="0"/>
          </a:p>
        </p:txBody>
      </p:sp>
      <p:sp>
        <p:nvSpPr>
          <p:cNvPr id="8" name="feedback icon 1 circle"/>
          <p:cNvSpPr/>
          <p:nvPr/>
        </p:nvSpPr>
        <p:spPr>
          <a:xfrm>
            <a:off x="6309360" y="2743200"/>
            <a:ext cx="502920" cy="502920"/>
          </a:xfrm>
          <a:prstGeom prst="ellipse">
            <a:avLst/>
          </a:prstGeom>
          <a:solidFill>
            <a:schemeClr val="accent1"/>
          </a:solidFill>
          <a:ln w="12700">
            <a:solidFill>
              <a:schemeClr val="accent1"/>
            </a:solidFill>
            <a:prstDash val="solid"/>
          </a:ln>
        </p:spPr>
      </p:sp>
      <p:pic>
        <p:nvPicPr>
          <p:cNvPr id="9" name="feedback icon 1" descr="preencoded.png">    </p:cNvPr>
          <p:cNvPicPr>
            <a:picLocks noChangeAspect="1"/>
          </p:cNvPicPr>
          <p:nvPr/>
        </p:nvPicPr>
        <p:blipFill>
          <a:blip r:embed="rId1"/>
          <a:stretch>
            <a:fillRect/>
          </a:stretch>
        </p:blipFill>
        <p:spPr>
          <a:xfrm>
            <a:off x="6430061" y="2863901"/>
            <a:ext cx="261518" cy="261518"/>
          </a:xfrm>
          <a:prstGeom prst="rect">
            <a:avLst/>
          </a:prstGeom>
        </p:spPr>
      </p:pic>
      <p:sp>
        <p:nvSpPr>
          <p:cNvPr id="10" name="Text 7"/>
          <p:cNvSpPr txBox="1"/>
          <p:nvPr/>
        </p:nvSpPr>
        <p:spPr>
          <a:xfrm>
            <a:off x="6995160" y="2743200"/>
            <a:ext cx="4572000" cy="502920"/>
          </a:xfrm>
          <a:prstGeom prst="rect">
            <a:avLst/>
          </a:prstGeom>
          <a:noFill/>
          <a:ln/>
        </p:spPr>
        <p:txBody>
          <a:bodyPr wrap="square" lIns="0" tIns="0" rIns="0" bIns="0" rtlCol="0" anchor="ctr"/>
          <a:lstStyle/>
          <a:p>
            <a:pPr indent="0" marL="0">
              <a:buNone/>
            </a:pPr>
            <a:r>
              <a:rPr lang="en-US" sz="1500" dirty="0">
                <a:solidFill>
                  <a:schemeClr val="tx1"/>
                </a:solidFill>
              </a:rPr>
              <a:t>Log each comment as a card on our board</a:t>
            </a:r>
            <a:endParaRPr lang="en-US" sz="1500" dirty="0"/>
          </a:p>
        </p:txBody>
      </p:sp>
      <p:sp>
        <p:nvSpPr>
          <p:cNvPr id="11" name="feedback icon 2 circle"/>
          <p:cNvSpPr/>
          <p:nvPr/>
        </p:nvSpPr>
        <p:spPr>
          <a:xfrm>
            <a:off x="6309360" y="3520440"/>
            <a:ext cx="502920" cy="502920"/>
          </a:xfrm>
          <a:prstGeom prst="ellipse">
            <a:avLst/>
          </a:prstGeom>
          <a:solidFill>
            <a:schemeClr val="accent1"/>
          </a:solidFill>
          <a:ln w="12700">
            <a:solidFill>
              <a:schemeClr val="accent1"/>
            </a:solidFill>
            <a:prstDash val="solid"/>
          </a:ln>
        </p:spPr>
      </p:sp>
      <p:pic>
        <p:nvPicPr>
          <p:cNvPr id="12" name="feedback icon 2" descr="preencoded.png">    </p:cNvPr>
          <p:cNvPicPr>
            <a:picLocks noChangeAspect="1"/>
          </p:cNvPicPr>
          <p:nvPr/>
        </p:nvPicPr>
        <p:blipFill>
          <a:blip r:embed="rId2"/>
          <a:stretch>
            <a:fillRect/>
          </a:stretch>
        </p:blipFill>
        <p:spPr>
          <a:xfrm>
            <a:off x="6430061" y="3641141"/>
            <a:ext cx="261518" cy="261518"/>
          </a:xfrm>
          <a:prstGeom prst="rect">
            <a:avLst/>
          </a:prstGeom>
        </p:spPr>
      </p:pic>
      <p:sp>
        <p:nvSpPr>
          <p:cNvPr id="13" name="Text 9"/>
          <p:cNvSpPr txBox="1"/>
          <p:nvPr/>
        </p:nvSpPr>
        <p:spPr>
          <a:xfrm>
            <a:off x="6995160" y="3520440"/>
            <a:ext cx="4572000" cy="502920"/>
          </a:xfrm>
          <a:prstGeom prst="rect">
            <a:avLst/>
          </a:prstGeom>
          <a:noFill/>
          <a:ln/>
        </p:spPr>
        <p:txBody>
          <a:bodyPr wrap="square" lIns="0" tIns="0" rIns="0" bIns="0" rtlCol="0" anchor="ctr"/>
          <a:lstStyle/>
          <a:p>
            <a:pPr indent="0" marL="0">
              <a:buNone/>
            </a:pPr>
            <a:r>
              <a:rPr lang="en-US" sz="1500" dirty="0">
                <a:solidFill>
                  <a:schemeClr val="tx1"/>
                </a:solidFill>
              </a:rPr>
              <a:t>Fix it on a branch with a pull request</a:t>
            </a:r>
            <a:endParaRPr lang="en-US" sz="1500" dirty="0"/>
          </a:p>
        </p:txBody>
      </p:sp>
      <p:sp>
        <p:nvSpPr>
          <p:cNvPr id="14" name="feedback icon 3 circle"/>
          <p:cNvSpPr/>
          <p:nvPr/>
        </p:nvSpPr>
        <p:spPr>
          <a:xfrm>
            <a:off x="6309360" y="4297680"/>
            <a:ext cx="502920" cy="502920"/>
          </a:xfrm>
          <a:prstGeom prst="ellipse">
            <a:avLst/>
          </a:prstGeom>
          <a:solidFill>
            <a:schemeClr val="accent1"/>
          </a:solidFill>
          <a:ln w="12700">
            <a:solidFill>
              <a:schemeClr val="accent1"/>
            </a:solidFill>
            <a:prstDash val="solid"/>
          </a:ln>
        </p:spPr>
      </p:sp>
      <p:pic>
        <p:nvPicPr>
          <p:cNvPr id="15" name="feedback icon 3" descr="preencoded.png">    </p:cNvPr>
          <p:cNvPicPr>
            <a:picLocks noChangeAspect="1"/>
          </p:cNvPicPr>
          <p:nvPr/>
        </p:nvPicPr>
        <p:blipFill>
          <a:blip r:embed="rId3"/>
          <a:stretch>
            <a:fillRect/>
          </a:stretch>
        </p:blipFill>
        <p:spPr>
          <a:xfrm>
            <a:off x="6430061" y="4418381"/>
            <a:ext cx="261518" cy="261518"/>
          </a:xfrm>
          <a:prstGeom prst="rect">
            <a:avLst/>
          </a:prstGeom>
        </p:spPr>
      </p:pic>
      <p:sp>
        <p:nvSpPr>
          <p:cNvPr id="16" name="Text 11"/>
          <p:cNvSpPr txBox="1"/>
          <p:nvPr/>
        </p:nvSpPr>
        <p:spPr>
          <a:xfrm>
            <a:off x="6995160" y="4297680"/>
            <a:ext cx="4572000" cy="502920"/>
          </a:xfrm>
          <a:prstGeom prst="rect">
            <a:avLst/>
          </a:prstGeom>
          <a:noFill/>
          <a:ln/>
        </p:spPr>
        <p:txBody>
          <a:bodyPr wrap="square" lIns="0" tIns="0" rIns="0" bIns="0" rtlCol="0" anchor="ctr"/>
          <a:lstStyle/>
          <a:p>
            <a:pPr indent="0" marL="0">
              <a:buNone/>
            </a:pPr>
            <a:r>
              <a:rPr lang="en-US" sz="1500" dirty="0">
                <a:solidFill>
                  <a:schemeClr val="tx1"/>
                </a:solidFill>
              </a:rPr>
              <a:t>Add or update a test that proves the fix</a:t>
            </a:r>
            <a:endParaRPr lang="en-US" sz="1500" dirty="0"/>
          </a:p>
        </p:txBody>
      </p:sp>
      <p:sp>
        <p:nvSpPr>
          <p:cNvPr id="17" name="feedback icon 4 circle"/>
          <p:cNvSpPr/>
          <p:nvPr/>
        </p:nvSpPr>
        <p:spPr>
          <a:xfrm>
            <a:off x="6309360" y="5074920"/>
            <a:ext cx="502920" cy="502920"/>
          </a:xfrm>
          <a:prstGeom prst="ellipse">
            <a:avLst/>
          </a:prstGeom>
          <a:solidFill>
            <a:schemeClr val="accent1"/>
          </a:solidFill>
          <a:ln w="12700">
            <a:solidFill>
              <a:schemeClr val="accent1"/>
            </a:solidFill>
            <a:prstDash val="solid"/>
          </a:ln>
        </p:spPr>
      </p:sp>
      <p:pic>
        <p:nvPicPr>
          <p:cNvPr id="18" name="feedback icon 4" descr="preencoded.png">    </p:cNvPr>
          <p:cNvPicPr>
            <a:picLocks noChangeAspect="1"/>
          </p:cNvPicPr>
          <p:nvPr/>
        </p:nvPicPr>
        <p:blipFill>
          <a:blip r:embed="rId4"/>
          <a:stretch>
            <a:fillRect/>
          </a:stretch>
        </p:blipFill>
        <p:spPr>
          <a:xfrm>
            <a:off x="6430061" y="5195621"/>
            <a:ext cx="261518" cy="261518"/>
          </a:xfrm>
          <a:prstGeom prst="rect">
            <a:avLst/>
          </a:prstGeom>
        </p:spPr>
      </p:pic>
      <p:sp>
        <p:nvSpPr>
          <p:cNvPr id="19" name="Text 13"/>
          <p:cNvSpPr txBox="1"/>
          <p:nvPr/>
        </p:nvSpPr>
        <p:spPr>
          <a:xfrm>
            <a:off x="6995160" y="5074920"/>
            <a:ext cx="4572000" cy="502920"/>
          </a:xfrm>
          <a:prstGeom prst="rect">
            <a:avLst/>
          </a:prstGeom>
          <a:noFill/>
          <a:ln/>
        </p:spPr>
        <p:txBody>
          <a:bodyPr wrap="square" lIns="0" tIns="0" rIns="0" bIns="0" rtlCol="0" anchor="ctr"/>
          <a:lstStyle/>
          <a:p>
            <a:pPr indent="0" marL="0">
              <a:buNone/>
            </a:pPr>
            <a:r>
              <a:rPr lang="en-US" sz="1500" dirty="0">
                <a:solidFill>
                  <a:schemeClr val="tx1"/>
                </a:solidFill>
              </a:rPr>
              <a:t>Re-run pytest and Postman before merging</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Next technical steps</a:t>
            </a:r>
            <a:endParaRPr lang="en-US" sz="3400" dirty="0"/>
          </a:p>
        </p:txBody>
      </p:sp>
      <p:graphicFrame>
        <p:nvGraphicFramePr>
          <p:cNvPr id="14" name="next steps table"/>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2194560"/>
                <a:gridCol w="5394960"/>
              </a:tblGrid>
              <a:tr h="566928">
                <a:tc>
                  <a:txBody>
                    <a:bodyPr/>
                    <a:lstStyle/>
                    <a:p>
                      <a:pPr indent="0" marL="0">
                        <a:buNone/>
                      </a:pPr>
                      <a:r>
                        <a:rPr lang="en-US" sz="1400" b="1" dirty="0">
                          <a:solidFill>
                            <a:schemeClr val="bg1"/>
                          </a:solidFill>
                        </a:rPr>
                        <a:t>Owner</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Task</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tx1"/>
                          </a:solidFill>
                        </a:rPr>
                        <a:t>Marion Gitau</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Deploy the Flask API and pages to Vercel; set environment variables</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566928">
                <a:tc>
                  <a:txBody>
                    <a:bodyPr/>
                    <a:lstStyle/>
                    <a:p>
                      <a:pPr indent="0" marL="0">
                        <a:buNone/>
                      </a:pPr>
                      <a:r>
                        <a:rPr lang="en-US" sz="1400" b="1" dirty="0">
                          <a:solidFill>
                            <a:schemeClr val="tx1"/>
                          </a:solidFill>
                        </a:rPr>
                        <a:t>Emmanuel Masambu</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Create the Aiven MySQL database, run the seed, set up backups</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566928">
                <a:tc>
                  <a:txBody>
                    <a:bodyPr/>
                    <a:lstStyle/>
                    <a:p>
                      <a:pPr indent="0" marL="0">
                        <a:buNone/>
                      </a:pPr>
                      <a:r>
                        <a:rPr lang="en-US" sz="1400" b="1" dirty="0">
                          <a:solidFill>
                            <a:schemeClr val="tx1"/>
                          </a:solidFill>
                        </a:rPr>
                        <a:t>Batsinda Benoit</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Run the Postman collection against the live URL; connect real email for alerts</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566928">
                <a:tc>
                  <a:txBody>
                    <a:bodyPr/>
                    <a:lstStyle/>
                    <a:p>
                      <a:pPr indent="0" marL="0">
                        <a:buNone/>
                      </a:pPr>
                      <a:r>
                        <a:rPr lang="en-US" sz="1400" b="1" dirty="0">
                          <a:solidFill>
                            <a:schemeClr val="tx1"/>
                          </a:solidFill>
                        </a:rPr>
                        <a:t>Sylvie Uwera</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Test on phones over slow connections; capture screenshots with live map tiles</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566928">
                <a:tc>
                  <a:txBody>
                    <a:bodyPr/>
                    <a:lstStyle/>
                    <a:p>
                      <a:pPr indent="0" marL="0">
                        <a:buNone/>
                      </a:pPr>
                      <a:r>
                        <a:rPr lang="en-US" sz="1400" b="1" dirty="0">
                          <a:solidFill>
                            <a:schemeClr val="tx1"/>
                          </a:solidFill>
                        </a:rPr>
                        <a:t>Ahmed Osman</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Usability test with 5 users using the proposal's 5-point Likert scale</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r h="566928">
                <a:tc>
                  <a:txBody>
                    <a:bodyPr/>
                    <a:lstStyle/>
                    <a:p>
                      <a:pPr indent="0" marL="0">
                        <a:buNone/>
                      </a:pPr>
                      <a:r>
                        <a:rPr lang="en-US" sz="1400" b="1" dirty="0">
                          <a:solidFill>
                            <a:schemeClr val="tx1"/>
                          </a:solidFill>
                        </a:rPr>
                        <a:t>Pauline Miyienda</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c>
                  <a:txBody>
                    <a:bodyPr/>
                    <a:lstStyle/>
                    <a:p>
                      <a:pPr indent="0" marL="0">
                        <a:buNone/>
                      </a:pPr>
                      <a:r>
                        <a:rPr lang="en-US" sz="1400" dirty="0">
                          <a:solidFill>
                            <a:schemeClr val="tx1"/>
                          </a:solidFill>
                        </a:rPr>
                        <a:t>Coordinate review and merge of pull request #1; track tasks on the board</a:t>
                      </a:r>
                      <a:endParaRPr lang="en-US" sz="1400" dirty="0"/>
                    </a:p>
                  </a:txBody>
                  <a:tcPr marL="109728" marR="109728" marT="45720" marB="45720" anchor="ctr">
                    <a:lnL w="6350" cap="flat" cmpd="sng" algn="ctr">
                      <a:solidFill>
                        <a:srgbClr val="D6DED9"/>
                      </a:solidFill>
                      <a:prstDash val="solid"/>
                      <a:round/>
                      <a:headEnd type="none" w="med" len="med"/>
                      <a:tailEnd type="none" w="med" len="med"/>
                    </a:lnL>
                    <a:lnR w="6350" cap="flat" cmpd="sng" algn="ctr">
                      <a:solidFill>
                        <a:srgbClr val="D6DED9"/>
                      </a:solidFill>
                      <a:prstDash val="solid"/>
                      <a:round/>
                      <a:headEnd type="none" w="med" len="med"/>
                      <a:tailEnd type="none" w="med" len="med"/>
                    </a:lnR>
                    <a:lnT w="6350" cap="flat" cmpd="sng" algn="ctr">
                      <a:solidFill>
                        <a:srgbClr val="D6DED9"/>
                      </a:solidFill>
                      <a:prstDash val="solid"/>
                      <a:round/>
                      <a:headEnd type="none" w="med" len="med"/>
                      <a:tailEnd type="none" w="med" len="med"/>
                    </a:lnT>
                    <a:lnB w="6350" cap="flat" cmpd="sng" algn="ctr">
                      <a:solidFill>
                        <a:srgbClr val="D6DED9"/>
                      </a:solidFill>
                      <a:prstDash val="solid"/>
                      <a:round/>
                      <a:headEnd type="none" w="med" len="med"/>
                      <a:tailEnd type="none" w="med" len="med"/>
                    </a:lnB>
                  </a:tcPr>
                </a:tc>
              </a:tr>
            </a:tbl>
          </a:graphicData>
        </a:graphic>
      </p:graphicFrame>
      <p:sp>
        <p:nvSpPr>
          <p:cNvPr id="4" name="milestones card"/>
          <p:cNvSpPr/>
          <p:nvPr/>
        </p:nvSpPr>
        <p:spPr>
          <a:xfrm>
            <a:off x="8503920" y="1325880"/>
            <a:ext cx="3108960" cy="397764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8732520" y="1463040"/>
            <a:ext cx="2743200" cy="365760"/>
          </a:xfrm>
          <a:prstGeom prst="rect">
            <a:avLst/>
          </a:prstGeom>
          <a:noFill/>
          <a:ln/>
        </p:spPr>
        <p:txBody>
          <a:bodyPr wrap="square" lIns="0" tIns="0" rIns="0" bIns="0" rtlCol="0" anchor="t"/>
          <a:lstStyle/>
          <a:p>
            <a:pPr indent="0" marL="0">
              <a:buNone/>
            </a:pPr>
            <a:r>
              <a:rPr lang="en-US" sz="1800" b="1" dirty="0">
                <a:solidFill>
                  <a:schemeClr val="tx2"/>
                </a:solidFill>
              </a:rPr>
              <a:t>Milestones</a:t>
            </a:r>
            <a:endParaRPr lang="en-US" sz="1800" dirty="0"/>
          </a:p>
        </p:txBody>
      </p:sp>
      <p:sp>
        <p:nvSpPr>
          <p:cNvPr id="6" name="Text 3"/>
          <p:cNvSpPr txBox="1"/>
          <p:nvPr/>
        </p:nvSpPr>
        <p:spPr>
          <a:xfrm>
            <a:off x="8732520" y="1920240"/>
            <a:ext cx="2697480" cy="3291840"/>
          </a:xfrm>
          <a:prstGeom prst="rect">
            <a:avLst/>
          </a:prstGeom>
          <a:noFill/>
          <a:ln/>
        </p:spPr>
        <p:txBody>
          <a:bodyPr wrap="square" lIns="0" tIns="0" rIns="0" bIns="0" rtlCol="0" anchor="t"/>
          <a:lstStyle/>
          <a:p>
            <a:pPr indent="0" marL="0">
              <a:buNone/>
            </a:pPr>
            <a:r>
              <a:rPr lang="en-US" sz="1400" b="1" dirty="0">
                <a:solidFill>
                  <a:schemeClr val="accent1"/>
                </a:solidFill>
              </a:rPr>
              <a:t>Week 5</a:t>
            </a:r>
            <a:endParaRPr lang="en-US" sz="1400" dirty="0"/>
          </a:p>
          <a:p>
            <a:pPr indent="0" marL="0">
              <a:buNone/>
            </a:pPr>
            <a:r>
              <a:rPr lang="en-US" sz="1400" dirty="0">
                <a:solidFill>
                  <a:schemeClr val="tx1"/>
                </a:solidFill>
              </a:rPr>
              <a:t>Live on Vercel, all tests re-run against it</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Week 6</a:t>
            </a:r>
            <a:endParaRPr lang="en-US" sz="1400" dirty="0"/>
          </a:p>
          <a:p>
            <a:pPr indent="0" marL="0">
              <a:buNone/>
            </a:pPr>
            <a:r>
              <a:rPr lang="en-US" sz="1400" dirty="0">
                <a:solidFill>
                  <a:schemeClr val="tx1"/>
                </a:solidFill>
              </a:rPr>
              <a:t>User evaluation and security testing, per the proposal timeline</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After the course</a:t>
            </a:r>
            <a:endParaRPr lang="en-US" sz="1400" dirty="0"/>
          </a:p>
          <a:p>
            <a:pPr indent="0" marL="0">
              <a:buNone/>
            </a:pPr>
            <a:r>
              <a:rPr lang="en-US" sz="1400" dirty="0">
                <a:solidFill>
                  <a:schemeClr val="tx1"/>
                </a:solidFill>
              </a:rPr>
              <a:t>Pilot with real Eldoret pharmacies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References and acknowledgements</a:t>
            </a:r>
            <a:endParaRPr lang="en-US" sz="34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800" b="1" dirty="0">
                <a:solidFill>
                  <a:schemeClr val="tx2"/>
                </a:solidFill>
              </a:rPr>
              <a:t>Research</a:t>
            </a:r>
            <a:endParaRPr lang="en-US" sz="1800" dirty="0"/>
          </a:p>
        </p:txBody>
      </p:sp>
      <p:sp>
        <p:nvSpPr>
          <p:cNvPr id="4" name="Text 2"/>
          <p:cNvSpPr txBox="1"/>
          <p:nvPr/>
        </p:nvSpPr>
        <p:spPr>
          <a:xfrm>
            <a:off x="548640" y="1691640"/>
            <a:ext cx="5852160" cy="4206240"/>
          </a:xfrm>
          <a:prstGeom prst="rect">
            <a:avLst/>
          </a:prstGeom>
          <a:noFill/>
          <a:ln/>
        </p:spPr>
        <p:txBody>
          <a:bodyPr wrap="square" lIns="0" tIns="0" rIns="0" bIns="0" rtlCol="0" anchor="t"/>
          <a:lstStyle/>
          <a:p>
            <a:pPr indent="0" marL="0">
              <a:spcAft>
                <a:spcPts val="800"/>
              </a:spcAft>
              <a:buNone/>
            </a:pPr>
            <a:r>
              <a:rPr lang="en-US" sz="1200" dirty="0">
                <a:solidFill>
                  <a:schemeClr val="tx1"/>
                </a:solidFill>
              </a:rPr>
              <a:t>Amdany, H., &amp; Kiprop, J. W. (2023). Handwritten prescription practices in a public hospital in Uasin Gishu County, Kenya. JBI Evidence Implementation, 21(4), 345–354.</a:t>
            </a:r>
            <a:endParaRPr lang="en-US" sz="1200" dirty="0"/>
          </a:p>
          <a:p>
            <a:pPr indent="0" marL="0">
              <a:spcAft>
                <a:spcPts val="800"/>
              </a:spcAft>
              <a:buNone/>
            </a:pPr>
            <a:r>
              <a:rPr lang="en-US" sz="1200" dirty="0">
                <a:solidFill>
                  <a:schemeClr val="tx1"/>
                </a:solidFill>
              </a:rPr>
              <a:t>Ashigbie, P. G., et al. (2020). Availability and prices of medicines for non-communicable diseases in Kenya. BMJ Open, 10(5), e035132.</a:t>
            </a:r>
            <a:endParaRPr lang="en-US" sz="1200" dirty="0"/>
          </a:p>
          <a:p>
            <a:pPr indent="0" marL="0">
              <a:spcAft>
                <a:spcPts val="800"/>
              </a:spcAft>
              <a:buNone/>
            </a:pPr>
            <a:r>
              <a:rPr lang="en-US" sz="1200" dirty="0">
                <a:solidFill>
                  <a:schemeClr val="tx1"/>
                </a:solidFill>
              </a:rPr>
              <a:t>Kommey, B., et al. (2024). MeDASH: checking the availability of pharmaceutical drugs in proximity using QR codes. SPEKTA, 5(2), 144–167.</a:t>
            </a:r>
            <a:endParaRPr lang="en-US" sz="1200" dirty="0"/>
          </a:p>
          <a:p>
            <a:pPr indent="0" marL="0">
              <a:spcAft>
                <a:spcPts val="800"/>
              </a:spcAft>
              <a:buNone/>
            </a:pPr>
            <a:r>
              <a:rPr lang="en-US" sz="1200" dirty="0">
                <a:solidFill>
                  <a:schemeClr val="tx1"/>
                </a:solidFill>
              </a:rPr>
              <a:t>Wondmagegn, M. T., et al. (2023). A framework for locating prescribed medication at pharmacies. Integrated Pharmacy Research and Practice, 12, 127–136.</a:t>
            </a:r>
            <a:endParaRPr lang="en-US" sz="1200" dirty="0"/>
          </a:p>
          <a:p>
            <a:pPr indent="0" marL="0">
              <a:spcAft>
                <a:spcPts val="800"/>
              </a:spcAft>
              <a:buNone/>
            </a:pPr>
            <a:r>
              <a:rPr lang="en-US" sz="1200" dirty="0">
                <a:solidFill>
                  <a:schemeClr val="tx1"/>
                </a:solidFill>
              </a:rPr>
              <a:t>Ariaga, A., et al. (2023). A scoping review of legibility of hand-written prescriptions and drug-orders. Expert Review of Clinical Pharmacology, 16(7), 617–621.</a:t>
            </a:r>
            <a:endParaRPr lang="en-US" sz="1200" dirty="0"/>
          </a:p>
          <a:p>
            <a:pPr indent="0" marL="0">
              <a:spcAft>
                <a:spcPts val="800"/>
              </a:spcAft>
              <a:buNone/>
            </a:pPr>
            <a:r>
              <a:rPr lang="en-US" sz="1200" dirty="0">
                <a:solidFill>
                  <a:schemeClr val="tx1"/>
                </a:solidFill>
              </a:rPr>
              <a:t>Toroitich, A. M., et al. (2022). Patients access to medicines: a critical review of the healthcare system in Kenya. Risk Management and Healthcare Policy, 15, 361–374.</a:t>
            </a:r>
            <a:endParaRPr lang="en-US" sz="1200" dirty="0"/>
          </a:p>
        </p:txBody>
      </p:sp>
      <p:sp>
        <p:nvSpPr>
          <p:cNvPr id="5" name="Text 3"/>
          <p:cNvSpPr txBox="1"/>
          <p:nvPr/>
        </p:nvSpPr>
        <p:spPr>
          <a:xfrm>
            <a:off x="6766560" y="1280160"/>
            <a:ext cx="4846320" cy="365760"/>
          </a:xfrm>
          <a:prstGeom prst="rect">
            <a:avLst/>
          </a:prstGeom>
          <a:noFill/>
          <a:ln/>
        </p:spPr>
        <p:txBody>
          <a:bodyPr wrap="square" lIns="0" tIns="0" rIns="0" bIns="0" rtlCol="0" anchor="t"/>
          <a:lstStyle/>
          <a:p>
            <a:pPr indent="0" marL="0">
              <a:buNone/>
            </a:pPr>
            <a:r>
              <a:rPr lang="en-US" sz="1800" b="1" dirty="0">
                <a:solidFill>
                  <a:schemeClr val="tx2"/>
                </a:solidFill>
              </a:rPr>
              <a:t>Libraries and services</a:t>
            </a:r>
            <a:endParaRPr lang="en-US" sz="1800" dirty="0"/>
          </a:p>
        </p:txBody>
      </p:sp>
      <p:sp>
        <p:nvSpPr>
          <p:cNvPr id="6" name="Text 4"/>
          <p:cNvSpPr txBox="1"/>
          <p:nvPr/>
        </p:nvSpPr>
        <p:spPr>
          <a:xfrm>
            <a:off x="6766560" y="1691640"/>
            <a:ext cx="4846320" cy="2011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Flask 3, Werkzeug, PyMySQL (Pallets; PyMySQL contributors)</a:t>
            </a:r>
            <a:endParaRPr lang="en-US" sz="1300" dirty="0"/>
          </a:p>
          <a:p>
            <a:pPr marL="342900" indent="-342900">
              <a:spcAft>
                <a:spcPts val="400"/>
              </a:spcAft>
              <a:buSzPct val="100000"/>
              <a:buChar char="•"/>
            </a:pPr>
            <a:r>
              <a:rPr lang="en-US" sz="1300" dirty="0">
                <a:solidFill>
                  <a:schemeClr val="tx1"/>
                </a:solidFill>
              </a:rPr>
              <a:t>Bootstrap 5.3, Leaflet 1.9.4</a:t>
            </a:r>
            <a:endParaRPr lang="en-US" sz="1300" dirty="0"/>
          </a:p>
          <a:p>
            <a:pPr marL="342900" indent="-342900">
              <a:spcAft>
                <a:spcPts val="400"/>
              </a:spcAft>
              <a:buSzPct val="100000"/>
              <a:buChar char="•"/>
            </a:pPr>
            <a:r>
              <a:rPr lang="en-US" sz="1300" dirty="0">
                <a:solidFill>
                  <a:schemeClr val="tx1"/>
                </a:solidFill>
              </a:rPr>
              <a:t>Map data © OpenStreetMap contributors</a:t>
            </a:r>
            <a:endParaRPr lang="en-US" sz="1300" dirty="0"/>
          </a:p>
          <a:p>
            <a:pPr marL="342900" indent="-342900">
              <a:spcAft>
                <a:spcPts val="400"/>
              </a:spcAft>
              <a:buSzPct val="100000"/>
              <a:buChar char="•"/>
            </a:pPr>
            <a:r>
              <a:rPr lang="en-US" sz="1300" dirty="0">
                <a:solidFill>
                  <a:schemeClr val="tx1"/>
                </a:solidFill>
              </a:rPr>
              <a:t>pytest, Postman and Newman, Mermaid</a:t>
            </a:r>
            <a:endParaRPr lang="en-US" sz="1300" dirty="0"/>
          </a:p>
          <a:p>
            <a:pPr marL="342900" indent="-342900">
              <a:spcAft>
                <a:spcPts val="400"/>
              </a:spcAft>
              <a:buSzPct val="100000"/>
              <a:buChar char="•"/>
            </a:pPr>
            <a:r>
              <a:rPr lang="en-US" sz="1300" dirty="0">
                <a:solidFill>
                  <a:schemeClr val="tx1"/>
                </a:solidFill>
              </a:rPr>
              <a:t>Vercel, Aiven for MySQL (deployment)</a:t>
            </a:r>
            <a:endParaRPr lang="en-US" sz="1300" dirty="0"/>
          </a:p>
        </p:txBody>
      </p:sp>
      <p:sp>
        <p:nvSpPr>
          <p:cNvPr id="7" name="thanks card"/>
          <p:cNvSpPr/>
          <p:nvPr/>
        </p:nvSpPr>
        <p:spPr>
          <a:xfrm>
            <a:off x="6766560" y="3931920"/>
            <a:ext cx="4846320" cy="2011680"/>
          </a:xfrm>
          <a:prstGeom prst="roundRect">
            <a:avLst>
              <a:gd name="adj" fmla="val 3636"/>
            </a:avLst>
          </a:prstGeom>
          <a:solidFill>
            <a:schemeClr val="bg2"/>
          </a:solidFill>
          <a:ln w="12700">
            <a:solidFill>
              <a:schemeClr val="bg2"/>
            </a:solidFill>
            <a:prstDash val="solid"/>
          </a:ln>
        </p:spPr>
      </p:sp>
      <p:sp>
        <p:nvSpPr>
          <p:cNvPr id="8" name="Text 6"/>
          <p:cNvSpPr txBox="1"/>
          <p:nvPr/>
        </p:nvSpPr>
        <p:spPr>
          <a:xfrm>
            <a:off x="6995160" y="4069080"/>
            <a:ext cx="4434840" cy="17830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Thank you</a:t>
            </a:r>
            <a:endParaRPr lang="en-US" sz="1500" dirty="0"/>
          </a:p>
          <a:p>
            <a:pPr indent="0" marL="0">
              <a:buNone/>
            </a:pPr>
            <a:r>
              <a:rPr lang="en-US" sz="1300" dirty="0">
                <a:solidFill>
                  <a:schemeClr val="tx1"/>
                </a:solidFill>
              </a:rPr>
              <a:t>To our ALU facilitators. Development was assisted by Claude (Anthropic), as permitted for this project. Code: github.com/EMANU02004/Pharma</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harmaFinder">
  <a:themeElements>
    <a:clrScheme name="PharmaFinder">
      <a:dk1>
        <a:srgbClr val="1C2A27"/>
      </a:dk1>
      <a:lt1>
        <a:srgbClr val="FFFFFF"/>
      </a:lt1>
      <a:dk2>
        <a:srgbClr val="0F5A4A"/>
      </a:dk2>
      <a:lt2>
        <a:srgbClr val="E3EFEB"/>
      </a:lt2>
      <a:accent1>
        <a:srgbClr val="0F5A4A"/>
      </a:accent1>
      <a:accent2>
        <a:srgbClr val="B26B00"/>
      </a:accent2>
      <a:accent3>
        <a:srgbClr val="B3261E"/>
      </a:accent3>
      <a:accent4>
        <a:srgbClr val="5C6B67"/>
      </a:accent4>
      <a:accent5>
        <a:srgbClr val="7AA69B"/>
      </a:accent5>
      <a:accent6>
        <a:srgbClr val="0A4236"/>
      </a:accent6>
      <a:hlink>
        <a:srgbClr val="0F5A4A"/>
      </a:hlink>
      <a:folHlink>
        <a:srgbClr val="0A4236"/>
      </a:folHlink>
    </a:clrScheme>
    <a:fontScheme name="PharmaF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African Leadership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PharmaFinder - Technical Presentation</dc:title>
  <dc:subject>PptxGenJS Presentation</dc:subject>
  <dc:creator>Group 3</dc:creator>
  <cp:lastModifiedBy>Group 3</cp:lastModifiedBy>
  <cp:revision>1</cp:revision>
  <dcterms:created xsi:type="dcterms:W3CDTF">2026-10-30T08:49:15Z</dcterms:created>
  <dcterms:modified xsi:type="dcterms:W3CDTF">2026-10-30T08:49:15Z</dcterms:modified>
</cp:coreProperties>
</file>